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Team ID is left as 'to be allotted' for the internal round. Every number on the footer is produced by the running code, not estimated.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problems on the left mirror the winner's structure. The right column is the pitch: every claim is enforced in code and covered by tests, not just described.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sources, ingestion with stable ids, the evidence ledger that refuses unsupported edges, the temporal graph, three analysis engines, the API and the board. The audit chain sits under everything. Stack is entirely open source; there is no language model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challenge on the left has a mitigation that exists in the code today, not on a roadmap. The last row is the honest scaling story: the contracts stay, the engines swap.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screenshots are from the running prototype on the synthetic case. Future plans follow the specification's own priority order. Add the video link when it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are the actual methods used: network analysis, PageRank and greedy modularity, Fellegi–Sunter record linkage, MAD outliers, hash-chained timestamps. Impact is framed as accountability plus reach, never as automated accusation.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5" Type="http://schemas.openxmlformats.org/officeDocument/2006/relationships/hyperlink" Target="https://github.com/varshithreddygujjulla/prahari" TargetMode="Externa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SMART INDIA HACKATHON 2026</a:t>
            </a:r>
            <a:endParaRPr lang="en-US" sz="1800" dirty="0"/>
          </a:p>
          <a:p>
            <a:pPr indent="0" marL="0">
              <a:buNone/>
            </a:pPr>
            <a:r>
              <a:rPr lang="en-US" sz="1100" dirty="0">
                <a:solidFill>
                  <a:srgbClr val="8B949E"/>
                </a:solidFill>
                <a:latin typeface="Calibri" pitchFamily="34" charset="0"/>
                <a:ea typeface="Calibri" pitchFamily="34" charset="-122"/>
                <a:cs typeface="Calibri" pitchFamily="34" charset="-120"/>
              </a:rPr>
              <a:t>Internal round  ·  idea submission</a:t>
            </a:r>
            <a:endParaRPr lang="en-US" sz="1800" dirty="0"/>
          </a:p>
        </p:txBody>
      </p:sp>
      <p:sp>
        <p:nvSpPr>
          <p:cNvPr id="3" name="Text 1"/>
          <p:cNvSpPr txBox="1"/>
          <p:nvPr/>
        </p:nvSpPr>
        <p:spPr>
          <a:xfrm>
            <a:off x="548640" y="1600200"/>
            <a:ext cx="2377440" cy="45720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Problem Statement ID</a:t>
            </a:r>
            <a:endParaRPr lang="en-US" sz="1200" dirty="0"/>
          </a:p>
        </p:txBody>
      </p:sp>
      <p:sp>
        <p:nvSpPr>
          <p:cNvPr id="4" name="Text 2"/>
          <p:cNvSpPr txBox="1"/>
          <p:nvPr/>
        </p:nvSpPr>
        <p:spPr>
          <a:xfrm>
            <a:off x="2926080" y="1600200"/>
            <a:ext cx="402336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26189</a:t>
            </a:r>
            <a:endParaRPr lang="en-US" sz="1300" dirty="0"/>
          </a:p>
        </p:txBody>
      </p:sp>
      <p:sp>
        <p:nvSpPr>
          <p:cNvPr id="5" name="Shape 3"/>
          <p:cNvSpPr/>
          <p:nvPr/>
        </p:nvSpPr>
        <p:spPr>
          <a:xfrm>
            <a:off x="548640" y="2075688"/>
            <a:ext cx="6400800" cy="0"/>
          </a:xfrm>
          <a:prstGeom prst="line">
            <a:avLst/>
          </a:prstGeom>
          <a:noFill/>
          <a:ln w="9525">
            <a:solidFill>
              <a:srgbClr val="30363D"/>
            </a:solidFill>
            <a:prstDash val="solid"/>
          </a:ln>
        </p:spPr>
      </p:sp>
      <p:sp>
        <p:nvSpPr>
          <p:cNvPr id="6" name="Text 4"/>
          <p:cNvSpPr txBox="1"/>
          <p:nvPr/>
        </p:nvSpPr>
        <p:spPr>
          <a:xfrm>
            <a:off x="548640" y="2130552"/>
            <a:ext cx="2377440" cy="45720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Problem Statement Title</a:t>
            </a:r>
            <a:endParaRPr lang="en-US" sz="1200" dirty="0"/>
          </a:p>
        </p:txBody>
      </p:sp>
      <p:sp>
        <p:nvSpPr>
          <p:cNvPr id="7" name="Text 5"/>
          <p:cNvSpPr txBox="1"/>
          <p:nvPr/>
        </p:nvSpPr>
        <p:spPr>
          <a:xfrm>
            <a:off x="2926080" y="2130552"/>
            <a:ext cx="402336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AI-Powered Criminal Network Analysis System</a:t>
            </a:r>
            <a:endParaRPr lang="en-US" sz="1300" dirty="0"/>
          </a:p>
        </p:txBody>
      </p:sp>
      <p:sp>
        <p:nvSpPr>
          <p:cNvPr id="8" name="Shape 6"/>
          <p:cNvSpPr/>
          <p:nvPr/>
        </p:nvSpPr>
        <p:spPr>
          <a:xfrm>
            <a:off x="548640" y="2606040"/>
            <a:ext cx="6400800" cy="0"/>
          </a:xfrm>
          <a:prstGeom prst="line">
            <a:avLst/>
          </a:prstGeom>
          <a:noFill/>
          <a:ln w="9525">
            <a:solidFill>
              <a:srgbClr val="30363D"/>
            </a:solidFill>
            <a:prstDash val="solid"/>
          </a:ln>
        </p:spPr>
      </p:sp>
      <p:sp>
        <p:nvSpPr>
          <p:cNvPr id="9" name="Text 7"/>
          <p:cNvSpPr txBox="1"/>
          <p:nvPr/>
        </p:nvSpPr>
        <p:spPr>
          <a:xfrm>
            <a:off x="548640" y="2660904"/>
            <a:ext cx="2377440" cy="45720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Organisation</a:t>
            </a:r>
            <a:endParaRPr lang="en-US" sz="1200" dirty="0"/>
          </a:p>
        </p:txBody>
      </p:sp>
      <p:sp>
        <p:nvSpPr>
          <p:cNvPr id="10" name="Text 8"/>
          <p:cNvSpPr txBox="1"/>
          <p:nvPr/>
        </p:nvSpPr>
        <p:spPr>
          <a:xfrm>
            <a:off x="2926080" y="2660904"/>
            <a:ext cx="402336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Ministry of Home Affairs · National Crime Records Bureau (NCRB), Women Safety Division</a:t>
            </a:r>
            <a:endParaRPr lang="en-US" sz="1300" dirty="0"/>
          </a:p>
        </p:txBody>
      </p:sp>
      <p:sp>
        <p:nvSpPr>
          <p:cNvPr id="11" name="Shape 9"/>
          <p:cNvSpPr/>
          <p:nvPr/>
        </p:nvSpPr>
        <p:spPr>
          <a:xfrm>
            <a:off x="548640" y="3136392"/>
            <a:ext cx="6400800" cy="0"/>
          </a:xfrm>
          <a:prstGeom prst="line">
            <a:avLst/>
          </a:prstGeom>
          <a:noFill/>
          <a:ln w="9525">
            <a:solidFill>
              <a:srgbClr val="30363D"/>
            </a:solidFill>
            <a:prstDash val="solid"/>
          </a:ln>
        </p:spPr>
      </p:sp>
      <p:sp>
        <p:nvSpPr>
          <p:cNvPr id="12" name="Text 10"/>
          <p:cNvSpPr txBox="1"/>
          <p:nvPr/>
        </p:nvSpPr>
        <p:spPr>
          <a:xfrm>
            <a:off x="548640" y="3191256"/>
            <a:ext cx="2377440" cy="45720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Theme</a:t>
            </a:r>
            <a:endParaRPr lang="en-US" sz="1200" dirty="0"/>
          </a:p>
        </p:txBody>
      </p:sp>
      <p:sp>
        <p:nvSpPr>
          <p:cNvPr id="13" name="Text 11"/>
          <p:cNvSpPr txBox="1"/>
          <p:nvPr/>
        </p:nvSpPr>
        <p:spPr>
          <a:xfrm>
            <a:off x="2926080" y="3191256"/>
            <a:ext cx="402336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Blockchain &amp; Cybersecurity</a:t>
            </a:r>
            <a:endParaRPr lang="en-US" sz="1300" dirty="0"/>
          </a:p>
        </p:txBody>
      </p:sp>
      <p:sp>
        <p:nvSpPr>
          <p:cNvPr id="14" name="Shape 12"/>
          <p:cNvSpPr/>
          <p:nvPr/>
        </p:nvSpPr>
        <p:spPr>
          <a:xfrm>
            <a:off x="548640" y="3666744"/>
            <a:ext cx="6400800" cy="0"/>
          </a:xfrm>
          <a:prstGeom prst="line">
            <a:avLst/>
          </a:prstGeom>
          <a:noFill/>
          <a:ln w="9525">
            <a:solidFill>
              <a:srgbClr val="30363D"/>
            </a:solidFill>
            <a:prstDash val="solid"/>
          </a:ln>
        </p:spPr>
      </p:sp>
      <p:sp>
        <p:nvSpPr>
          <p:cNvPr id="15" name="Text 13"/>
          <p:cNvSpPr txBox="1"/>
          <p:nvPr/>
        </p:nvSpPr>
        <p:spPr>
          <a:xfrm>
            <a:off x="548640" y="3721608"/>
            <a:ext cx="2377440" cy="45720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PS Category</a:t>
            </a:r>
            <a:endParaRPr lang="en-US" sz="1200" dirty="0"/>
          </a:p>
        </p:txBody>
      </p:sp>
      <p:sp>
        <p:nvSpPr>
          <p:cNvPr id="16" name="Text 14"/>
          <p:cNvSpPr txBox="1"/>
          <p:nvPr/>
        </p:nvSpPr>
        <p:spPr>
          <a:xfrm>
            <a:off x="2926080" y="3721608"/>
            <a:ext cx="402336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Software</a:t>
            </a:r>
            <a:endParaRPr lang="en-US" sz="1300" dirty="0"/>
          </a:p>
        </p:txBody>
      </p:sp>
      <p:sp>
        <p:nvSpPr>
          <p:cNvPr id="17" name="Shape 15"/>
          <p:cNvSpPr/>
          <p:nvPr/>
        </p:nvSpPr>
        <p:spPr>
          <a:xfrm>
            <a:off x="548640" y="4197096"/>
            <a:ext cx="6400800" cy="0"/>
          </a:xfrm>
          <a:prstGeom prst="line">
            <a:avLst/>
          </a:prstGeom>
          <a:noFill/>
          <a:ln w="9525">
            <a:solidFill>
              <a:srgbClr val="30363D"/>
            </a:solidFill>
            <a:prstDash val="solid"/>
          </a:ln>
        </p:spPr>
      </p:sp>
      <p:sp>
        <p:nvSpPr>
          <p:cNvPr id="18" name="Text 16"/>
          <p:cNvSpPr txBox="1"/>
          <p:nvPr/>
        </p:nvSpPr>
        <p:spPr>
          <a:xfrm>
            <a:off x="548640" y="4251960"/>
            <a:ext cx="2377440" cy="45720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Team ID</a:t>
            </a:r>
            <a:endParaRPr lang="en-US" sz="1200" dirty="0"/>
          </a:p>
        </p:txBody>
      </p:sp>
      <p:sp>
        <p:nvSpPr>
          <p:cNvPr id="19" name="Text 17"/>
          <p:cNvSpPr txBox="1"/>
          <p:nvPr/>
        </p:nvSpPr>
        <p:spPr>
          <a:xfrm>
            <a:off x="2926080" y="4251960"/>
            <a:ext cx="402336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 be allotted</a:t>
            </a:r>
            <a:endParaRPr lang="en-US" sz="1300" dirty="0"/>
          </a:p>
        </p:txBody>
      </p:sp>
      <p:sp>
        <p:nvSpPr>
          <p:cNvPr id="20" name="Shape 18"/>
          <p:cNvSpPr/>
          <p:nvPr/>
        </p:nvSpPr>
        <p:spPr>
          <a:xfrm>
            <a:off x="548640" y="4727448"/>
            <a:ext cx="6400800" cy="0"/>
          </a:xfrm>
          <a:prstGeom prst="line">
            <a:avLst/>
          </a:prstGeom>
          <a:noFill/>
          <a:ln w="9525">
            <a:solidFill>
              <a:srgbClr val="30363D"/>
            </a:solidFill>
            <a:prstDash val="solid"/>
          </a:ln>
        </p:spPr>
      </p:sp>
      <p:sp>
        <p:nvSpPr>
          <p:cNvPr id="21" name="Text 19"/>
          <p:cNvSpPr txBox="1"/>
          <p:nvPr/>
        </p:nvSpPr>
        <p:spPr>
          <a:xfrm>
            <a:off x="548640" y="4782312"/>
            <a:ext cx="2377440" cy="45720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Team Name</a:t>
            </a:r>
            <a:endParaRPr lang="en-US" sz="1200" dirty="0"/>
          </a:p>
        </p:txBody>
      </p:sp>
      <p:sp>
        <p:nvSpPr>
          <p:cNvPr id="22" name="Text 20"/>
          <p:cNvSpPr txBox="1"/>
          <p:nvPr/>
        </p:nvSpPr>
        <p:spPr>
          <a:xfrm>
            <a:off x="2926080" y="4782312"/>
            <a:ext cx="402336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PRAHARI</a:t>
            </a:r>
            <a:endParaRPr lang="en-US" sz="1300" dirty="0"/>
          </a:p>
        </p:txBody>
      </p:sp>
      <p:sp>
        <p:nvSpPr>
          <p:cNvPr id="23" name="Shape 21"/>
          <p:cNvSpPr/>
          <p:nvPr/>
        </p:nvSpPr>
        <p:spPr>
          <a:xfrm>
            <a:off x="548640" y="5257800"/>
            <a:ext cx="6400800" cy="0"/>
          </a:xfrm>
          <a:prstGeom prst="line">
            <a:avLst/>
          </a:prstGeom>
          <a:noFill/>
          <a:ln w="9525">
            <a:solidFill>
              <a:srgbClr val="30363D"/>
            </a:solidFill>
            <a:prstDash val="solid"/>
          </a:ln>
        </p:spPr>
      </p:sp>
      <p:sp>
        <p:nvSpPr>
          <p:cNvPr id="24" name="Shape 22"/>
          <p:cNvSpPr/>
          <p:nvPr/>
        </p:nvSpPr>
        <p:spPr>
          <a:xfrm>
            <a:off x="7589520" y="1417320"/>
            <a:ext cx="4114800" cy="4160520"/>
          </a:xfrm>
          <a:prstGeom prst="roundRect">
            <a:avLst>
              <a:gd name="adj" fmla="val 2667"/>
            </a:avLst>
          </a:prstGeom>
          <a:solidFill>
            <a:srgbClr val="161B22"/>
          </a:solidFill>
          <a:ln w="12700">
            <a:solidFill>
              <a:srgbClr val="161B22"/>
            </a:solidFill>
            <a:prstDash val="solid"/>
          </a:ln>
          <a:effectLst>
            <a:outerShdw sx="100000" sy="100000" kx="0" ky="0" algn="bl" rotWithShape="0" blurRad="50800" dist="12700" dir="5400000">
              <a:srgbClr val="000000">
                <a:alpha val="12000"/>
              </a:srgbClr>
            </a:outerShdw>
          </a:effectLst>
        </p:spPr>
      </p:sp>
      <p:sp>
        <p:nvSpPr>
          <p:cNvPr id="25" name="Shape 23"/>
          <p:cNvSpPr/>
          <p:nvPr/>
        </p:nvSpPr>
        <p:spPr>
          <a:xfrm>
            <a:off x="9189720" y="1783080"/>
            <a:ext cx="914400" cy="914400"/>
          </a:xfrm>
          <a:prstGeom prst="roundRect">
            <a:avLst>
              <a:gd name="adj" fmla="val 20000"/>
            </a:avLst>
          </a:prstGeom>
          <a:solidFill>
            <a:srgbClr val="1F6FEB"/>
          </a:solidFill>
          <a:ln w="12700">
            <a:solidFill>
              <a:srgbClr val="1F6FEB"/>
            </a:solidFill>
            <a:prstDash val="solid"/>
          </a:ln>
        </p:spPr>
      </p:sp>
      <p:sp>
        <p:nvSpPr>
          <p:cNvPr id="26" name="Text 24"/>
          <p:cNvSpPr txBox="1"/>
          <p:nvPr/>
        </p:nvSpPr>
        <p:spPr>
          <a:xfrm>
            <a:off x="9189720" y="1783080"/>
            <a:ext cx="914400" cy="914400"/>
          </a:xfrm>
          <a:prstGeom prst="rect">
            <a:avLst/>
          </a:prstGeom>
          <a:noFill/>
          <a:ln/>
        </p:spPr>
        <p:txBody>
          <a:bodyPr wrap="square" lIns="0" tIns="0" rIns="0" bIns="0" rtlCol="0" anchor="ctr"/>
          <a:lstStyle/>
          <a:p>
            <a:pPr algn="ctr" indent="0" marL="0">
              <a:buNone/>
            </a:pPr>
            <a:r>
              <a:rPr lang="en-US" sz="3400" dirty="0">
                <a:solidFill>
                  <a:srgbClr val="FFFFFF"/>
                </a:solidFill>
                <a:latin typeface="Segoe UI Emoji" pitchFamily="34" charset="0"/>
                <a:ea typeface="Segoe UI Emoji" pitchFamily="34" charset="-122"/>
                <a:cs typeface="Segoe UI Emoji" pitchFamily="34" charset="-120"/>
              </a:rPr>
              <a:t>🛡</a:t>
            </a:r>
            <a:endParaRPr lang="en-US" sz="3400" dirty="0"/>
          </a:p>
        </p:txBody>
      </p:sp>
      <p:sp>
        <p:nvSpPr>
          <p:cNvPr id="27" name="Text 25"/>
          <p:cNvSpPr txBox="1"/>
          <p:nvPr/>
        </p:nvSpPr>
        <p:spPr>
          <a:xfrm>
            <a:off x="7589520" y="2788920"/>
            <a:ext cx="4114800" cy="731520"/>
          </a:xfrm>
          <a:prstGeom prst="rect">
            <a:avLst/>
          </a:prstGeom>
          <a:noFill/>
          <a:ln/>
        </p:spPr>
        <p:txBody>
          <a:bodyPr wrap="square" lIns="0" tIns="0" rIns="0" bIns="0" rtlCol="0" anchor="ctr"/>
          <a:lstStyle/>
          <a:p>
            <a:pPr algn="ctr" indent="0" marL="0">
              <a:buNone/>
            </a:pPr>
            <a:r>
              <a:rPr lang="en-US" sz="4000" b="1" spc="400" kern="0" dirty="0">
                <a:solidFill>
                  <a:srgbClr val="FFFFFF"/>
                </a:solidFill>
                <a:latin typeface="Calibri" pitchFamily="34" charset="0"/>
                <a:ea typeface="Calibri" pitchFamily="34" charset="-122"/>
                <a:cs typeface="Calibri" pitchFamily="34" charset="-120"/>
              </a:rPr>
              <a:t>PRAHARI</a:t>
            </a:r>
            <a:endParaRPr lang="en-US" sz="4000" dirty="0"/>
          </a:p>
        </p:txBody>
      </p:sp>
      <p:sp>
        <p:nvSpPr>
          <p:cNvPr id="28" name="Text 26"/>
          <p:cNvSpPr txBox="1"/>
          <p:nvPr/>
        </p:nvSpPr>
        <p:spPr>
          <a:xfrm>
            <a:off x="7772400" y="3520440"/>
            <a:ext cx="3749040" cy="548640"/>
          </a:xfrm>
          <a:prstGeom prst="rect">
            <a:avLst/>
          </a:prstGeom>
          <a:noFill/>
          <a:ln/>
        </p:spPr>
        <p:txBody>
          <a:bodyPr wrap="square" lIns="0" tIns="0" rIns="0" bIns="0" rtlCol="0" anchor="ctr"/>
          <a:lstStyle/>
          <a:p>
            <a:pPr algn="ctr" indent="0" marL="0">
              <a:buNone/>
            </a:pPr>
            <a:r>
              <a:rPr lang="en-US" sz="1300" dirty="0">
                <a:solidFill>
                  <a:srgbClr val="C9D1D9"/>
                </a:solidFill>
                <a:latin typeface="Calibri" pitchFamily="34" charset="0"/>
                <a:ea typeface="Calibri" pitchFamily="34" charset="-122"/>
                <a:cs typeface="Calibri" pitchFamily="34" charset="-120"/>
              </a:rPr>
              <a:t>Investigative Intelligence &amp; Evidence Correlation Platform</a:t>
            </a:r>
            <a:endParaRPr lang="en-US" sz="1300" dirty="0"/>
          </a:p>
        </p:txBody>
      </p:sp>
      <p:sp>
        <p:nvSpPr>
          <p:cNvPr id="29" name="Text 27"/>
          <p:cNvSpPr txBox="1"/>
          <p:nvPr/>
        </p:nvSpPr>
        <p:spPr>
          <a:xfrm>
            <a:off x="7726680" y="4160520"/>
            <a:ext cx="3840480" cy="731520"/>
          </a:xfrm>
          <a:prstGeom prst="rect">
            <a:avLst/>
          </a:prstGeom>
          <a:noFill/>
          <a:ln/>
        </p:spPr>
        <p:txBody>
          <a:bodyPr wrap="square" lIns="0" tIns="0" rIns="0" bIns="0" rtlCol="0" anchor="ctr"/>
          <a:lstStyle/>
          <a:p>
            <a:pPr algn="ctr" indent="0" marL="0">
              <a:buNone/>
            </a:pPr>
            <a:r>
              <a:rPr lang="en-US" sz="1100" b="1" dirty="0">
                <a:solidFill>
                  <a:srgbClr val="4A9EFF"/>
                </a:solidFill>
                <a:latin typeface="Calibri" pitchFamily="34" charset="0"/>
                <a:ea typeface="Calibri" pitchFamily="34" charset="-122"/>
                <a:cs typeface="Calibri" pitchFamily="34" charset="-120"/>
              </a:rPr>
              <a:t>Evidence-cited leads</a:t>
            </a:r>
            <a:pPr algn="ctr" indent="0" marL="0">
              <a:buNone/>
            </a:pPr>
            <a:r>
              <a:rPr lang="en-US" sz="1100" dirty="0">
                <a:solidFill>
                  <a:srgbClr val="6E7681"/>
                </a:solidFill>
                <a:latin typeface="Calibri" pitchFamily="34" charset="0"/>
                <a:ea typeface="Calibri" pitchFamily="34" charset="-122"/>
                <a:cs typeface="Calibri" pitchFamily="34" charset="-120"/>
              </a:rPr>
              <a:t>  ·  </a:t>
            </a:r>
            <a:pPr algn="ctr" indent="0" marL="0">
              <a:buNone/>
            </a:pPr>
            <a:r>
              <a:rPr lang="en-US" sz="1100" b="1" dirty="0">
                <a:solidFill>
                  <a:srgbClr val="D29922"/>
                </a:solidFill>
                <a:latin typeface="Calibri" pitchFamily="34" charset="0"/>
                <a:ea typeface="Calibri" pitchFamily="34" charset="-122"/>
                <a:cs typeface="Calibri" pitchFamily="34" charset="-120"/>
              </a:rPr>
              <a:t>identities never auto-merged</a:t>
            </a:r>
            <a:pPr algn="ctr" indent="0" marL="0">
              <a:buNone/>
            </a:pPr>
            <a:r>
              <a:rPr lang="en-US" sz="1100" dirty="0">
                <a:solidFill>
                  <a:srgbClr val="6E7681"/>
                </a:solidFill>
                <a:latin typeface="Calibri" pitchFamily="34" charset="0"/>
                <a:ea typeface="Calibri" pitchFamily="34" charset="-122"/>
                <a:cs typeface="Calibri" pitchFamily="34" charset="-120"/>
              </a:rPr>
              <a:t>  ·  </a:t>
            </a:r>
            <a:pPr algn="ctr" indent="0" marL="0">
              <a:buNone/>
            </a:pPr>
            <a:r>
              <a:rPr lang="en-US" sz="1100" b="1" dirty="0">
                <a:solidFill>
                  <a:srgbClr val="3FB950"/>
                </a:solidFill>
                <a:latin typeface="Calibri" pitchFamily="34" charset="0"/>
                <a:ea typeface="Calibri" pitchFamily="34" charset="-122"/>
                <a:cs typeface="Calibri" pitchFamily="34" charset="-120"/>
              </a:rPr>
              <a:t>every action on a hash chain</a:t>
            </a:r>
            <a:endParaRPr lang="en-US" sz="1100" dirty="0"/>
          </a:p>
        </p:txBody>
      </p:sp>
      <p:sp>
        <p:nvSpPr>
          <p:cNvPr id="30" name="Text 28"/>
          <p:cNvSpPr txBox="1"/>
          <p:nvPr/>
        </p:nvSpPr>
        <p:spPr>
          <a:xfrm>
            <a:off x="7589520" y="4983480"/>
            <a:ext cx="4114800" cy="365760"/>
          </a:xfrm>
          <a:prstGeom prst="rect">
            <a:avLst/>
          </a:prstGeom>
          <a:noFill/>
          <a:ln/>
        </p:spPr>
        <p:txBody>
          <a:bodyPr wrap="square" lIns="0" tIns="0" rIns="0" bIns="0" rtlCol="0" anchor="ctr"/>
          <a:lstStyle/>
          <a:p>
            <a:pPr algn="ctr" indent="0" marL="0">
              <a:buNone/>
            </a:pPr>
            <a:r>
              <a:rPr lang="en-US" sz="1100" i="1" dirty="0">
                <a:solidFill>
                  <a:srgbClr val="8B949E"/>
                </a:solidFill>
                <a:latin typeface="Calibri" pitchFamily="34" charset="0"/>
                <a:ea typeface="Calibri" pitchFamily="34" charset="-122"/>
                <a:cs typeface="Calibri" pitchFamily="34" charset="-120"/>
              </a:rPr>
              <a:t>“Data connects what others overlook.”</a:t>
            </a:r>
            <a:endParaRPr lang="en-US" sz="1100" dirty="0"/>
          </a:p>
        </p:txBody>
      </p:sp>
      <p:sp>
        <p:nvSpPr>
          <p:cNvPr id="31" name="Text 29"/>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Working prototype  ·  28 people · 78 evidence links · 3 clusters · 24 anomaly findings · 0 auto-merged identities · 190 automated tests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4114800" cy="292608"/>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PRAHARI</a:t>
            </a:r>
            <a:pPr indent="0" marL="0">
              <a:buNone/>
            </a:pPr>
            <a:r>
              <a:rPr lang="en-US" sz="1200" dirty="0">
                <a:solidFill>
                  <a:srgbClr val="5C6773"/>
                </a:solidFill>
                <a:latin typeface="Calibri" pitchFamily="34" charset="0"/>
                <a:ea typeface="Calibri" pitchFamily="34" charset="-122"/>
                <a:cs typeface="Calibri" pitchFamily="34" charset="-120"/>
              </a:rPr>
              <a:t>  ·  Team PRAHARI</a:t>
            </a:r>
            <a:endParaRPr lang="en-US" sz="1200" dirty="0"/>
          </a:p>
        </p:txBody>
      </p:sp>
      <p:sp>
        <p:nvSpPr>
          <p:cNvPr id="3" name="Text 1"/>
          <p:cNvSpPr txBox="1"/>
          <p:nvPr/>
        </p:nvSpPr>
        <p:spPr>
          <a:xfrm>
            <a:off x="7680960" y="201168"/>
            <a:ext cx="4114800" cy="292608"/>
          </a:xfrm>
          <a:prstGeom prst="rect">
            <a:avLst/>
          </a:prstGeom>
          <a:noFill/>
          <a:ln/>
        </p:spPr>
        <p:txBody>
          <a:bodyPr wrap="square" lIns="0" tIns="0" rIns="0" bIns="0" rtlCol="0" anchor="ctr"/>
          <a:lstStyle/>
          <a:p>
            <a:pPr algn="r" indent="0" marL="0">
              <a:buNone/>
            </a:pPr>
            <a:r>
              <a:rPr lang="en-US" sz="1100" b="1" dirty="0">
                <a:solidFill>
                  <a:srgbClr val="1F6FEB"/>
                </a:solidFill>
                <a:latin typeface="Calibri" pitchFamily="34" charset="0"/>
                <a:ea typeface="Calibri" pitchFamily="34" charset="-122"/>
                <a:cs typeface="Calibri" pitchFamily="34" charset="-120"/>
              </a:rPr>
              <a:t>SMART INDIA HACKATHON 2026  ·  PS 26189</a:t>
            </a:r>
            <a:endParaRPr lang="en-US" sz="1100" dirty="0"/>
          </a:p>
        </p:txBody>
      </p:sp>
      <p:sp>
        <p:nvSpPr>
          <p:cNvPr id="4" name="Text 2"/>
          <p:cNvSpPr txBox="1"/>
          <p:nvPr/>
        </p:nvSpPr>
        <p:spPr>
          <a:xfrm>
            <a:off x="411480" y="457200"/>
            <a:ext cx="11338560" cy="548640"/>
          </a:xfrm>
          <a:prstGeom prst="rect">
            <a:avLst/>
          </a:prstGeom>
          <a:noFill/>
          <a:ln/>
        </p:spPr>
        <p:txBody>
          <a:bodyPr wrap="square" lIns="0" tIns="0" rIns="0" bIns="0" rtlCol="0" anchor="ctr"/>
          <a:lstStyle/>
          <a:p>
            <a:pPr indent="0" marL="0">
              <a:buNone/>
            </a:pPr>
            <a:r>
              <a:rPr lang="en-US" sz="2800" b="1" dirty="0">
                <a:solidFill>
                  <a:srgbClr val="0D1117"/>
                </a:solidFill>
                <a:latin typeface="Calibri" pitchFamily="34" charset="0"/>
                <a:ea typeface="Calibri" pitchFamily="34" charset="-122"/>
                <a:cs typeface="Calibri" pitchFamily="34" charset="-120"/>
              </a:rPr>
              <a:t>Problems &amp; Solution Uniqueness</a:t>
            </a:r>
            <a:endParaRPr lang="en-US" sz="2800" dirty="0"/>
          </a:p>
        </p:txBody>
      </p:sp>
      <p:sp>
        <p:nvSpPr>
          <p:cNvPr id="5" name="Shape 3"/>
          <p:cNvSpPr/>
          <p:nvPr/>
        </p:nvSpPr>
        <p:spPr>
          <a:xfrm>
            <a:off x="411480" y="1188720"/>
            <a:ext cx="3611880" cy="1600200"/>
          </a:xfrm>
          <a:prstGeom prst="roundRect">
            <a:avLst>
              <a:gd name="adj" fmla="val 4571"/>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6" name="Shape 4"/>
          <p:cNvSpPr/>
          <p:nvPr/>
        </p:nvSpPr>
        <p:spPr>
          <a:xfrm>
            <a:off x="548640" y="1344168"/>
            <a:ext cx="457200" cy="457200"/>
          </a:xfrm>
          <a:prstGeom prst="ellipse">
            <a:avLst/>
          </a:prstGeom>
          <a:solidFill>
            <a:srgbClr val="1F6FEB"/>
          </a:solidFill>
          <a:ln w="12700">
            <a:solidFill>
              <a:srgbClr val="1F6FEB"/>
            </a:solidFill>
            <a:prstDash val="solid"/>
          </a:ln>
        </p:spPr>
      </p:sp>
      <p:sp>
        <p:nvSpPr>
          <p:cNvPr id="7" name="Text 5"/>
          <p:cNvSpPr txBox="1"/>
          <p:nvPr/>
        </p:nvSpPr>
        <p:spPr>
          <a:xfrm>
            <a:off x="548640" y="1344168"/>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Emoji" pitchFamily="34" charset="0"/>
                <a:ea typeface="Segoe UI Emoji" pitchFamily="34" charset="-122"/>
                <a:cs typeface="Segoe UI Emoji" pitchFamily="34" charset="-120"/>
              </a:rPr>
              <a:t>📂</a:t>
            </a:r>
            <a:endParaRPr lang="en-US" sz="1500" dirty="0"/>
          </a:p>
        </p:txBody>
      </p:sp>
      <p:sp>
        <p:nvSpPr>
          <p:cNvPr id="8" name="Text 6"/>
          <p:cNvSpPr txBox="1"/>
          <p:nvPr/>
        </p:nvSpPr>
        <p:spPr>
          <a:xfrm>
            <a:off x="1124712" y="1325880"/>
            <a:ext cx="2788920" cy="45720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Evidence lives in silos</a:t>
            </a:r>
            <a:endParaRPr lang="en-US" sz="1300" dirty="0"/>
          </a:p>
        </p:txBody>
      </p:sp>
      <p:sp>
        <p:nvSpPr>
          <p:cNvPr id="9" name="Text 7"/>
          <p:cNvSpPr txBox="1"/>
          <p:nvPr/>
        </p:nvSpPr>
        <p:spPr>
          <a:xfrm>
            <a:off x="548640" y="1847088"/>
            <a:ext cx="3337560" cy="850392"/>
          </a:xfrm>
          <a:prstGeom prst="rect">
            <a:avLst/>
          </a:prstGeom>
          <a:noFill/>
          <a:ln/>
        </p:spPr>
        <p:txBody>
          <a:bodyPr wrap="square" lIns="0" tIns="0" rIns="0" bIns="0" rtlCol="0" anchor="t"/>
          <a:lstStyle/>
          <a:p>
            <a:pPr indent="0" marL="0">
              <a:buNone/>
            </a:pPr>
            <a:r>
              <a:rPr lang="en-US" sz="1050" dirty="0">
                <a:solidFill>
                  <a:srgbClr val="1B2430"/>
                </a:solidFill>
                <a:latin typeface="Calibri" pitchFamily="34" charset="0"/>
                <a:ea typeface="Calibri" pitchFamily="34" charset="-122"/>
                <a:cs typeface="Calibri" pitchFamily="34" charset="-120"/>
              </a:rPr>
              <a:t>FIRs in CCTNS, call records at telecoms, transfers at FIU-IND, registries, custody and travel logs sit apart. Cross-state links surface weeks late, or never.</a:t>
            </a:r>
            <a:endParaRPr lang="en-US" sz="1050" dirty="0"/>
          </a:p>
        </p:txBody>
      </p:sp>
      <p:sp>
        <p:nvSpPr>
          <p:cNvPr id="10" name="Shape 8"/>
          <p:cNvSpPr/>
          <p:nvPr/>
        </p:nvSpPr>
        <p:spPr>
          <a:xfrm>
            <a:off x="4187952" y="1188720"/>
            <a:ext cx="3611880" cy="1600200"/>
          </a:xfrm>
          <a:prstGeom prst="roundRect">
            <a:avLst>
              <a:gd name="adj" fmla="val 4571"/>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11" name="Shape 9"/>
          <p:cNvSpPr/>
          <p:nvPr/>
        </p:nvSpPr>
        <p:spPr>
          <a:xfrm>
            <a:off x="4325112" y="1344168"/>
            <a:ext cx="457200" cy="457200"/>
          </a:xfrm>
          <a:prstGeom prst="ellipse">
            <a:avLst/>
          </a:prstGeom>
          <a:solidFill>
            <a:srgbClr val="B7791F"/>
          </a:solidFill>
          <a:ln w="12700">
            <a:solidFill>
              <a:srgbClr val="B7791F"/>
            </a:solidFill>
            <a:prstDash val="solid"/>
          </a:ln>
        </p:spPr>
      </p:sp>
      <p:sp>
        <p:nvSpPr>
          <p:cNvPr id="12" name="Text 10"/>
          <p:cNvSpPr txBox="1"/>
          <p:nvPr/>
        </p:nvSpPr>
        <p:spPr>
          <a:xfrm>
            <a:off x="4325112" y="1344168"/>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Emoji" pitchFamily="34" charset="0"/>
                <a:ea typeface="Segoe UI Emoji" pitchFamily="34" charset="-122"/>
                <a:cs typeface="Segoe UI Emoji" pitchFamily="34" charset="-120"/>
              </a:rPr>
              <a:t>🧠</a:t>
            </a:r>
            <a:endParaRPr lang="en-US" sz="1500" dirty="0"/>
          </a:p>
        </p:txBody>
      </p:sp>
      <p:sp>
        <p:nvSpPr>
          <p:cNvPr id="13" name="Text 11"/>
          <p:cNvSpPr txBox="1"/>
          <p:nvPr/>
        </p:nvSpPr>
        <p:spPr>
          <a:xfrm>
            <a:off x="4901184" y="1325880"/>
            <a:ext cx="2788920" cy="45720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Connections are made in an officer's head</a:t>
            </a:r>
            <a:endParaRPr lang="en-US" sz="1300" dirty="0"/>
          </a:p>
        </p:txBody>
      </p:sp>
      <p:sp>
        <p:nvSpPr>
          <p:cNvPr id="14" name="Text 12"/>
          <p:cNvSpPr txBox="1"/>
          <p:nvPr/>
        </p:nvSpPr>
        <p:spPr>
          <a:xfrm>
            <a:off x="4325112" y="1847088"/>
            <a:ext cx="3337560" cy="850392"/>
          </a:xfrm>
          <a:prstGeom prst="rect">
            <a:avLst/>
          </a:prstGeom>
          <a:noFill/>
          <a:ln/>
        </p:spPr>
        <p:txBody>
          <a:bodyPr wrap="square" lIns="0" tIns="0" rIns="0" bIns="0" rtlCol="0" anchor="t"/>
          <a:lstStyle/>
          <a:p>
            <a:pPr indent="0" marL="0">
              <a:buNone/>
            </a:pPr>
            <a:r>
              <a:rPr lang="en-US" sz="1050" dirty="0">
                <a:solidFill>
                  <a:srgbClr val="1B2430"/>
                </a:solidFill>
                <a:latin typeface="Calibri" pitchFamily="34" charset="0"/>
                <a:ea typeface="Calibri" pitchFamily="34" charset="-122"/>
                <a:cs typeface="Calibri" pitchFamily="34" charset="-120"/>
              </a:rPr>
              <a:t>Hundreds of rows are cross-checked by hand. Nothing records why two people were linked, so nothing can be re-checked.</a:t>
            </a:r>
            <a:endParaRPr lang="en-US" sz="1050" dirty="0"/>
          </a:p>
        </p:txBody>
      </p:sp>
      <p:sp>
        <p:nvSpPr>
          <p:cNvPr id="15" name="Shape 13"/>
          <p:cNvSpPr/>
          <p:nvPr/>
        </p:nvSpPr>
        <p:spPr>
          <a:xfrm>
            <a:off x="411480" y="2953512"/>
            <a:ext cx="3611880" cy="1600200"/>
          </a:xfrm>
          <a:prstGeom prst="roundRect">
            <a:avLst>
              <a:gd name="adj" fmla="val 4571"/>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16" name="Shape 14"/>
          <p:cNvSpPr/>
          <p:nvPr/>
        </p:nvSpPr>
        <p:spPr>
          <a:xfrm>
            <a:off x="548640" y="3108960"/>
            <a:ext cx="457200" cy="457200"/>
          </a:xfrm>
          <a:prstGeom prst="ellipse">
            <a:avLst/>
          </a:prstGeom>
          <a:solidFill>
            <a:srgbClr val="6F42C1"/>
          </a:solidFill>
          <a:ln w="12700">
            <a:solidFill>
              <a:srgbClr val="6F42C1"/>
            </a:solidFill>
            <a:prstDash val="solid"/>
          </a:ln>
        </p:spPr>
      </p:sp>
      <p:sp>
        <p:nvSpPr>
          <p:cNvPr id="17" name="Text 15"/>
          <p:cNvSpPr txBox="1"/>
          <p:nvPr/>
        </p:nvSpPr>
        <p:spPr>
          <a:xfrm>
            <a:off x="548640" y="3108960"/>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Emoji" pitchFamily="34" charset="0"/>
                <a:ea typeface="Segoe UI Emoji" pitchFamily="34" charset="-122"/>
                <a:cs typeface="Segoe UI Emoji" pitchFamily="34" charset="-120"/>
              </a:rPr>
              <a:t>👤</a:t>
            </a:r>
            <a:endParaRPr lang="en-US" sz="1500" dirty="0"/>
          </a:p>
        </p:txBody>
      </p:sp>
      <p:sp>
        <p:nvSpPr>
          <p:cNvPr id="18" name="Text 16"/>
          <p:cNvSpPr txBox="1"/>
          <p:nvPr/>
        </p:nvSpPr>
        <p:spPr>
          <a:xfrm>
            <a:off x="1124712" y="3090672"/>
            <a:ext cx="2788920" cy="45720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Same person, three spellings</a:t>
            </a:r>
            <a:endParaRPr lang="en-US" sz="1300" dirty="0"/>
          </a:p>
        </p:txBody>
      </p:sp>
      <p:sp>
        <p:nvSpPr>
          <p:cNvPr id="19" name="Text 17"/>
          <p:cNvSpPr txBox="1"/>
          <p:nvPr/>
        </p:nvSpPr>
        <p:spPr>
          <a:xfrm>
            <a:off x="548640" y="3611880"/>
            <a:ext cx="3337560" cy="850392"/>
          </a:xfrm>
          <a:prstGeom prst="rect">
            <a:avLst/>
          </a:prstGeom>
          <a:noFill/>
          <a:ln/>
        </p:spPr>
        <p:txBody>
          <a:bodyPr wrap="square" lIns="0" tIns="0" rIns="0" bIns="0" rtlCol="0" anchor="t"/>
          <a:lstStyle/>
          <a:p>
            <a:pPr indent="0" marL="0">
              <a:buNone/>
            </a:pPr>
            <a:r>
              <a:rPr lang="en-US" sz="1050" dirty="0">
                <a:solidFill>
                  <a:srgbClr val="1B2430"/>
                </a:solidFill>
                <a:latin typeface="Calibri" pitchFamily="34" charset="0"/>
                <a:ea typeface="Calibri" pitchFamily="34" charset="-122"/>
                <a:cs typeface="Calibri" pitchFamily="34" charset="-120"/>
              </a:rPr>
              <a:t>“R. Yadav”, “RAMESH YADAV”, “Ramesh Yadhav” split one trail three ways, while a look-alike name can be wrongly merged into it.</a:t>
            </a:r>
            <a:endParaRPr lang="en-US" sz="1050" dirty="0"/>
          </a:p>
        </p:txBody>
      </p:sp>
      <p:sp>
        <p:nvSpPr>
          <p:cNvPr id="20" name="Shape 18"/>
          <p:cNvSpPr/>
          <p:nvPr/>
        </p:nvSpPr>
        <p:spPr>
          <a:xfrm>
            <a:off x="4187952" y="2953512"/>
            <a:ext cx="3611880" cy="1600200"/>
          </a:xfrm>
          <a:prstGeom prst="roundRect">
            <a:avLst>
              <a:gd name="adj" fmla="val 4571"/>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21" name="Shape 19"/>
          <p:cNvSpPr/>
          <p:nvPr/>
        </p:nvSpPr>
        <p:spPr>
          <a:xfrm>
            <a:off x="4325112" y="3108960"/>
            <a:ext cx="457200" cy="457200"/>
          </a:xfrm>
          <a:prstGeom prst="ellipse">
            <a:avLst/>
          </a:prstGeom>
          <a:solidFill>
            <a:srgbClr val="C0392B"/>
          </a:solidFill>
          <a:ln w="12700">
            <a:solidFill>
              <a:srgbClr val="C0392B"/>
            </a:solidFill>
            <a:prstDash val="solid"/>
          </a:ln>
        </p:spPr>
      </p:sp>
      <p:sp>
        <p:nvSpPr>
          <p:cNvPr id="22" name="Text 20"/>
          <p:cNvSpPr txBox="1"/>
          <p:nvPr/>
        </p:nvSpPr>
        <p:spPr>
          <a:xfrm>
            <a:off x="4325112" y="3108960"/>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Emoji" pitchFamily="34" charset="0"/>
                <a:ea typeface="Segoe UI Emoji" pitchFamily="34" charset="-122"/>
                <a:cs typeface="Segoe UI Emoji" pitchFamily="34" charset="-120"/>
              </a:rPr>
              <a:t>🗣</a:t>
            </a:r>
            <a:endParaRPr lang="en-US" sz="1500" dirty="0"/>
          </a:p>
        </p:txBody>
      </p:sp>
      <p:sp>
        <p:nvSpPr>
          <p:cNvPr id="23" name="Text 21"/>
          <p:cNvSpPr txBox="1"/>
          <p:nvPr/>
        </p:nvSpPr>
        <p:spPr>
          <a:xfrm>
            <a:off x="4901184" y="3090672"/>
            <a:ext cx="2788920" cy="45720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Tools that overclaim</a:t>
            </a:r>
            <a:endParaRPr lang="en-US" sz="1300" dirty="0"/>
          </a:p>
        </p:txBody>
      </p:sp>
      <p:sp>
        <p:nvSpPr>
          <p:cNvPr id="24" name="Text 22"/>
          <p:cNvSpPr txBox="1"/>
          <p:nvPr/>
        </p:nvSpPr>
        <p:spPr>
          <a:xfrm>
            <a:off x="4325112" y="3611880"/>
            <a:ext cx="3337560" cy="850392"/>
          </a:xfrm>
          <a:prstGeom prst="rect">
            <a:avLst/>
          </a:prstGeom>
          <a:noFill/>
          <a:ln/>
        </p:spPr>
        <p:txBody>
          <a:bodyPr wrap="square" lIns="0" tIns="0" rIns="0" bIns="0" rtlCol="0" anchor="t"/>
          <a:lstStyle/>
          <a:p>
            <a:pPr indent="0" marL="0">
              <a:buNone/>
            </a:pPr>
            <a:r>
              <a:rPr lang="en-US" sz="1050" dirty="0">
                <a:solidFill>
                  <a:srgbClr val="1B2430"/>
                </a:solidFill>
                <a:latin typeface="Calibri" pitchFamily="34" charset="0"/>
                <a:ea typeface="Calibri" pitchFamily="34" charset="-122"/>
                <a:cs typeface="Calibri" pitchFamily="34" charset="-120"/>
              </a:rPr>
              <a:t>“Kingpin”, “risk score” and unsourced AI summaries create leads that no officer or court can trace back to a record.</a:t>
            </a:r>
            <a:endParaRPr lang="en-US" sz="1050" dirty="0"/>
          </a:p>
        </p:txBody>
      </p:sp>
      <p:sp>
        <p:nvSpPr>
          <p:cNvPr id="25" name="Shape 23"/>
          <p:cNvSpPr/>
          <p:nvPr/>
        </p:nvSpPr>
        <p:spPr>
          <a:xfrm>
            <a:off x="411480" y="4718304"/>
            <a:ext cx="3611880" cy="1600200"/>
          </a:xfrm>
          <a:prstGeom prst="roundRect">
            <a:avLst>
              <a:gd name="adj" fmla="val 4571"/>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26" name="Shape 24"/>
          <p:cNvSpPr/>
          <p:nvPr/>
        </p:nvSpPr>
        <p:spPr>
          <a:xfrm>
            <a:off x="548640" y="4873752"/>
            <a:ext cx="457200" cy="457200"/>
          </a:xfrm>
          <a:prstGeom prst="ellipse">
            <a:avLst/>
          </a:prstGeom>
          <a:solidFill>
            <a:srgbClr val="0B7285"/>
          </a:solidFill>
          <a:ln w="12700">
            <a:solidFill>
              <a:srgbClr val="0B7285"/>
            </a:solidFill>
            <a:prstDash val="solid"/>
          </a:ln>
        </p:spPr>
      </p:sp>
      <p:sp>
        <p:nvSpPr>
          <p:cNvPr id="27" name="Text 25"/>
          <p:cNvSpPr txBox="1"/>
          <p:nvPr/>
        </p:nvSpPr>
        <p:spPr>
          <a:xfrm>
            <a:off x="548640" y="4873752"/>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Emoji" pitchFamily="34" charset="0"/>
                <a:ea typeface="Segoe UI Emoji" pitchFamily="34" charset="-122"/>
                <a:cs typeface="Segoe UI Emoji" pitchFamily="34" charset="-120"/>
              </a:rPr>
              <a:t>⏱</a:t>
            </a:r>
            <a:endParaRPr lang="en-US" sz="1500" dirty="0"/>
          </a:p>
        </p:txBody>
      </p:sp>
      <p:sp>
        <p:nvSpPr>
          <p:cNvPr id="28" name="Text 26"/>
          <p:cNvSpPr txBox="1"/>
          <p:nvPr/>
        </p:nvSpPr>
        <p:spPr>
          <a:xfrm>
            <a:off x="1124712" y="4855464"/>
            <a:ext cx="2788920" cy="45720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Time is flattened</a:t>
            </a:r>
            <a:endParaRPr lang="en-US" sz="1300" dirty="0"/>
          </a:p>
        </p:txBody>
      </p:sp>
      <p:sp>
        <p:nvSpPr>
          <p:cNvPr id="29" name="Text 27"/>
          <p:cNvSpPr txBox="1"/>
          <p:nvPr/>
        </p:nvSpPr>
        <p:spPr>
          <a:xfrm>
            <a:off x="548640" y="5376672"/>
            <a:ext cx="3337560" cy="850392"/>
          </a:xfrm>
          <a:prstGeom prst="rect">
            <a:avLst/>
          </a:prstGeom>
          <a:noFill/>
          <a:ln/>
        </p:spPr>
        <p:txBody>
          <a:bodyPr wrap="square" lIns="0" tIns="0" rIns="0" bIns="0" rtlCol="0" anchor="t"/>
          <a:lstStyle/>
          <a:p>
            <a:pPr indent="0" marL="0">
              <a:buNone/>
            </a:pPr>
            <a:r>
              <a:rPr lang="en-US" sz="1050" dirty="0">
                <a:solidFill>
                  <a:srgbClr val="1B2430"/>
                </a:solidFill>
                <a:latin typeface="Calibri" pitchFamily="34" charset="0"/>
                <a:ea typeface="Calibri" pitchFamily="34" charset="-122"/>
                <a:cs typeface="Calibri" pitchFamily="34" charset="-120"/>
              </a:rPr>
              <a:t>A 2021 custody overlap and a March 2026 call spike look alike without a case clock and time windows anchored to the records.</a:t>
            </a:r>
            <a:endParaRPr lang="en-US" sz="1050" dirty="0"/>
          </a:p>
        </p:txBody>
      </p:sp>
      <p:sp>
        <p:nvSpPr>
          <p:cNvPr id="30" name="Shape 28"/>
          <p:cNvSpPr/>
          <p:nvPr/>
        </p:nvSpPr>
        <p:spPr>
          <a:xfrm>
            <a:off x="4187952" y="4718304"/>
            <a:ext cx="3611880" cy="1600200"/>
          </a:xfrm>
          <a:prstGeom prst="roundRect">
            <a:avLst>
              <a:gd name="adj" fmla="val 4571"/>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31" name="Shape 29"/>
          <p:cNvSpPr/>
          <p:nvPr/>
        </p:nvSpPr>
        <p:spPr>
          <a:xfrm>
            <a:off x="4325112" y="4873752"/>
            <a:ext cx="457200" cy="457200"/>
          </a:xfrm>
          <a:prstGeom prst="ellipse">
            <a:avLst/>
          </a:prstGeom>
          <a:solidFill>
            <a:srgbClr val="1F8A4C"/>
          </a:solidFill>
          <a:ln w="12700">
            <a:solidFill>
              <a:srgbClr val="1F8A4C"/>
            </a:solidFill>
            <a:prstDash val="solid"/>
          </a:ln>
        </p:spPr>
      </p:sp>
      <p:sp>
        <p:nvSpPr>
          <p:cNvPr id="32" name="Text 30"/>
          <p:cNvSpPr txBox="1"/>
          <p:nvPr/>
        </p:nvSpPr>
        <p:spPr>
          <a:xfrm>
            <a:off x="4325112" y="4873752"/>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Emoji" pitchFamily="34" charset="0"/>
                <a:ea typeface="Segoe UI Emoji" pitchFamily="34" charset="-122"/>
                <a:cs typeface="Segoe UI Emoji" pitchFamily="34" charset="-120"/>
              </a:rPr>
              <a:t>🔒</a:t>
            </a:r>
            <a:endParaRPr lang="en-US" sz="1500" dirty="0"/>
          </a:p>
        </p:txBody>
      </p:sp>
      <p:sp>
        <p:nvSpPr>
          <p:cNvPr id="33" name="Text 31"/>
          <p:cNvSpPr txBox="1"/>
          <p:nvPr/>
        </p:nvSpPr>
        <p:spPr>
          <a:xfrm>
            <a:off x="4901184" y="4855464"/>
            <a:ext cx="2788920" cy="457200"/>
          </a:xfrm>
          <a:prstGeom prst="rect">
            <a:avLst/>
          </a:prstGeom>
          <a:noFill/>
          <a:ln/>
        </p:spPr>
        <p:txBody>
          <a:bodyPr wrap="square" lIns="0" tIns="0" rIns="0" bIns="0" rtlCol="0" anchor="ctr"/>
          <a:lstStyle/>
          <a:p>
            <a:pPr indent="0" marL="0">
              <a:buNone/>
            </a:pPr>
            <a:r>
              <a:rPr lang="en-US" sz="1300" b="1" dirty="0">
                <a:solidFill>
                  <a:srgbClr val="0D1117"/>
                </a:solidFill>
                <a:latin typeface="Calibri" pitchFamily="34" charset="0"/>
                <a:ea typeface="Calibri" pitchFamily="34" charset="-122"/>
                <a:cs typeface="Calibri" pitchFamily="34" charset="-120"/>
              </a:rPr>
              <a:t>No accountability for access</a:t>
            </a:r>
            <a:endParaRPr lang="en-US" sz="1300" dirty="0"/>
          </a:p>
        </p:txBody>
      </p:sp>
      <p:sp>
        <p:nvSpPr>
          <p:cNvPr id="34" name="Text 32"/>
          <p:cNvSpPr txBox="1"/>
          <p:nvPr/>
        </p:nvSpPr>
        <p:spPr>
          <a:xfrm>
            <a:off x="4325112" y="5376672"/>
            <a:ext cx="3337560" cy="850392"/>
          </a:xfrm>
          <a:prstGeom prst="rect">
            <a:avLst/>
          </a:prstGeom>
          <a:noFill/>
          <a:ln/>
        </p:spPr>
        <p:txBody>
          <a:bodyPr wrap="square" lIns="0" tIns="0" rIns="0" bIns="0" rtlCol="0" anchor="t"/>
          <a:lstStyle/>
          <a:p>
            <a:pPr indent="0" marL="0">
              <a:buNone/>
            </a:pPr>
            <a:r>
              <a:rPr lang="en-US" sz="1050" dirty="0">
                <a:solidFill>
                  <a:srgbClr val="1B2430"/>
                </a:solidFill>
                <a:latin typeface="Calibri" pitchFamily="34" charset="0"/>
                <a:ea typeface="Calibri" pitchFamily="34" charset="-122"/>
                <a:cs typeface="Calibri" pitchFamily="34" charset="-120"/>
              </a:rPr>
              <a:t>A system that can map anyone's contacts can be misused. Without an immutable log, misuse is invisible.</a:t>
            </a:r>
            <a:endParaRPr lang="en-US" sz="1050" dirty="0"/>
          </a:p>
        </p:txBody>
      </p:sp>
      <p:sp>
        <p:nvSpPr>
          <p:cNvPr id="35" name="Shape 33"/>
          <p:cNvSpPr/>
          <p:nvPr/>
        </p:nvSpPr>
        <p:spPr>
          <a:xfrm>
            <a:off x="8001000" y="1188720"/>
            <a:ext cx="3794760" cy="5120640"/>
          </a:xfrm>
          <a:prstGeom prst="roundRect">
            <a:avLst>
              <a:gd name="adj" fmla="val 2410"/>
            </a:avLst>
          </a:prstGeom>
          <a:solidFill>
            <a:srgbClr val="0D1117"/>
          </a:solidFill>
          <a:ln w="12700">
            <a:solidFill>
              <a:srgbClr val="0D1117"/>
            </a:solidFill>
            <a:prstDash val="solid"/>
          </a:ln>
          <a:effectLst>
            <a:outerShdw sx="100000" sy="100000" kx="0" ky="0" algn="bl" rotWithShape="0" blurRad="50800" dist="12700" dir="5400000">
              <a:srgbClr val="000000">
                <a:alpha val="12000"/>
              </a:srgbClr>
            </a:outerShdw>
          </a:effectLst>
        </p:spPr>
      </p:sp>
      <p:sp>
        <p:nvSpPr>
          <p:cNvPr id="36" name="Text 34"/>
          <p:cNvSpPr txBox="1"/>
          <p:nvPr/>
        </p:nvSpPr>
        <p:spPr>
          <a:xfrm>
            <a:off x="8229600" y="1353312"/>
            <a:ext cx="333756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makes PRAHARI different</a:t>
            </a:r>
            <a:endParaRPr lang="en-US" sz="1500" dirty="0"/>
          </a:p>
        </p:txBody>
      </p:sp>
      <p:sp>
        <p:nvSpPr>
          <p:cNvPr id="37" name="Text 35"/>
          <p:cNvSpPr txBox="1"/>
          <p:nvPr/>
        </p:nvSpPr>
        <p:spPr>
          <a:xfrm>
            <a:off x="8229600" y="1874520"/>
            <a:ext cx="3337560" cy="850392"/>
          </a:xfrm>
          <a:prstGeom prst="rect">
            <a:avLst/>
          </a:prstGeom>
          <a:noFill/>
          <a:ln/>
        </p:spPr>
        <p:txBody>
          <a:bodyPr wrap="square" lIns="0" tIns="0" rIns="0" bIns="0" rtlCol="0" anchor="t"/>
          <a:lstStyle/>
          <a:p>
            <a:pPr indent="0" marL="0">
              <a:buNone/>
            </a:pPr>
            <a:r>
              <a:rPr lang="en-US" sz="1150" b="1" dirty="0">
                <a:solidFill>
                  <a:srgbClr val="4A9EFF"/>
                </a:solidFill>
                <a:latin typeface="Calibri" pitchFamily="34" charset="0"/>
                <a:ea typeface="Calibri" pitchFamily="34" charset="-122"/>
                <a:cs typeface="Calibri" pitchFamily="34" charset="-120"/>
              </a:rPr>
              <a:t>Provenance by construction</a:t>
            </a:r>
            <a:endParaRPr lang="en-US" sz="1150" dirty="0"/>
          </a:p>
          <a:p>
            <a:pPr indent="0" marL="0">
              <a:buNone/>
            </a:pPr>
            <a:r>
              <a:rPr lang="en-US" sz="1000" dirty="0">
                <a:solidFill>
                  <a:srgbClr val="C9D1D9"/>
                </a:solidFill>
                <a:latin typeface="Calibri" pitchFamily="34" charset="0"/>
                <a:ea typeface="Calibri" pitchFamily="34" charset="-122"/>
                <a:cs typeface="Calibri" pitchFamily="34" charset="-120"/>
              </a:rPr>
              <a:t>An edge cannot exist without a source record: the ledger raises instead. Every finding cites its record ids, and /api/evidence answers what any record supports.</a:t>
            </a:r>
            <a:endParaRPr lang="en-US" sz="1150" dirty="0"/>
          </a:p>
        </p:txBody>
      </p:sp>
      <p:sp>
        <p:nvSpPr>
          <p:cNvPr id="38" name="Text 36"/>
          <p:cNvSpPr txBox="1"/>
          <p:nvPr/>
        </p:nvSpPr>
        <p:spPr>
          <a:xfrm>
            <a:off x="8229600" y="2752344"/>
            <a:ext cx="3337560" cy="850392"/>
          </a:xfrm>
          <a:prstGeom prst="rect">
            <a:avLst/>
          </a:prstGeom>
          <a:noFill/>
          <a:ln/>
        </p:spPr>
        <p:txBody>
          <a:bodyPr wrap="square" lIns="0" tIns="0" rIns="0" bIns="0" rtlCol="0" anchor="t"/>
          <a:lstStyle/>
          <a:p>
            <a:pPr indent="0" marL="0">
              <a:buNone/>
            </a:pPr>
            <a:r>
              <a:rPr lang="en-US" sz="1150" b="1" dirty="0">
                <a:solidFill>
                  <a:srgbClr val="4A9EFF"/>
                </a:solidFill>
                <a:latin typeface="Calibri" pitchFamily="34" charset="0"/>
                <a:ea typeface="Calibri" pitchFamily="34" charset="-122"/>
                <a:cs typeface="Calibri" pitchFamily="34" charset="-120"/>
              </a:rPr>
              <a:t>Confidence is derived, capped at 97</a:t>
            </a:r>
            <a:endParaRPr lang="en-US" sz="1150" dirty="0"/>
          </a:p>
          <a:p>
            <a:pPr indent="0" marL="0">
              <a:buNone/>
            </a:pPr>
            <a:r>
              <a:rPr lang="en-US" sz="1000" dirty="0">
                <a:solidFill>
                  <a:srgbClr val="C9D1D9"/>
                </a:solidFill>
                <a:latin typeface="Calibri" pitchFamily="34" charset="0"/>
                <a:ea typeface="Calibri" pitchFamily="34" charset="-122"/>
                <a:cs typeface="Calibri" pitchFamily="34" charset="-120"/>
              </a:rPr>
              <a:t>Base by evidence type plus corroboration across independent source types. Nothing is ever 100%.</a:t>
            </a:r>
            <a:endParaRPr lang="en-US" sz="1150" dirty="0"/>
          </a:p>
        </p:txBody>
      </p:sp>
      <p:sp>
        <p:nvSpPr>
          <p:cNvPr id="39" name="Text 37"/>
          <p:cNvSpPr txBox="1"/>
          <p:nvPr/>
        </p:nvSpPr>
        <p:spPr>
          <a:xfrm>
            <a:off x="8229600" y="3630168"/>
            <a:ext cx="3337560" cy="850392"/>
          </a:xfrm>
          <a:prstGeom prst="rect">
            <a:avLst/>
          </a:prstGeom>
          <a:noFill/>
          <a:ln/>
        </p:spPr>
        <p:txBody>
          <a:bodyPr wrap="square" lIns="0" tIns="0" rIns="0" bIns="0" rtlCol="0" anchor="t"/>
          <a:lstStyle/>
          <a:p>
            <a:pPr indent="0" marL="0">
              <a:buNone/>
            </a:pPr>
            <a:r>
              <a:rPr lang="en-US" sz="1150" b="1" dirty="0">
                <a:solidFill>
                  <a:srgbClr val="4A9EFF"/>
                </a:solidFill>
                <a:latin typeface="Calibri" pitchFamily="34" charset="0"/>
                <a:ea typeface="Calibri" pitchFamily="34" charset="-122"/>
                <a:cs typeface="Calibri" pitchFamily="34" charset="-120"/>
              </a:rPr>
              <a:t>Identities are never merged</a:t>
            </a:r>
            <a:endParaRPr lang="en-US" sz="1150" dirty="0"/>
          </a:p>
          <a:p>
            <a:pPr indent="0" marL="0">
              <a:buNone/>
            </a:pPr>
            <a:r>
              <a:rPr lang="en-US" sz="1000" dirty="0">
                <a:solidFill>
                  <a:srgbClr val="C9D1D9"/>
                </a:solidFill>
                <a:latin typeface="Calibri" pitchFamily="34" charset="0"/>
                <a:ea typeface="Calibri" pitchFamily="34" charset="-122"/>
                <a:cs typeface="Calibri" pitchFamily="34" charset="-120"/>
              </a:rPr>
              <a:t>Scored and banded; conflicting identifiers apply −35; the investigator confirms. Auto-merged is asserted to be 0.</a:t>
            </a:r>
            <a:endParaRPr lang="en-US" sz="1150" dirty="0"/>
          </a:p>
        </p:txBody>
      </p:sp>
      <p:sp>
        <p:nvSpPr>
          <p:cNvPr id="40" name="Text 38"/>
          <p:cNvSpPr txBox="1"/>
          <p:nvPr/>
        </p:nvSpPr>
        <p:spPr>
          <a:xfrm>
            <a:off x="8229600" y="4507992"/>
            <a:ext cx="3337560" cy="850392"/>
          </a:xfrm>
          <a:prstGeom prst="rect">
            <a:avLst/>
          </a:prstGeom>
          <a:noFill/>
          <a:ln/>
        </p:spPr>
        <p:txBody>
          <a:bodyPr wrap="square" lIns="0" tIns="0" rIns="0" bIns="0" rtlCol="0" anchor="t"/>
          <a:lstStyle/>
          <a:p>
            <a:pPr indent="0" marL="0">
              <a:buNone/>
            </a:pPr>
            <a:r>
              <a:rPr lang="en-US" sz="1150" b="1" dirty="0">
                <a:solidFill>
                  <a:srgbClr val="4A9EFF"/>
                </a:solidFill>
                <a:latin typeface="Calibri" pitchFamily="34" charset="0"/>
                <a:ea typeface="Calibri" pitchFamily="34" charset="-122"/>
                <a:cs typeface="Calibri" pitchFamily="34" charset="-120"/>
              </a:rPr>
              <a:t>A lead score, not a guilt score</a:t>
            </a:r>
            <a:endParaRPr lang="en-US" sz="1150" dirty="0"/>
          </a:p>
          <a:p>
            <a:pPr indent="0" marL="0">
              <a:buNone/>
            </a:pPr>
            <a:r>
              <a:rPr lang="en-US" sz="1000" dirty="0">
                <a:solidFill>
                  <a:srgbClr val="C9D1D9"/>
                </a:solidFill>
                <a:latin typeface="Calibri" pitchFamily="34" charset="0"/>
                <a:ea typeface="Calibri" pitchFamily="34" charset="-122"/>
                <a:cs typeface="Calibri" pitchFamily="34" charset="-120"/>
              </a:rPr>
              <a:t>Investigative Lead Score: 8 capped factors, every point explained and cited. VERIFIED / DISMISSED are human verdicts.</a:t>
            </a:r>
            <a:endParaRPr lang="en-US" sz="1150" dirty="0"/>
          </a:p>
        </p:txBody>
      </p:sp>
      <p:sp>
        <p:nvSpPr>
          <p:cNvPr id="41" name="Text 39"/>
          <p:cNvSpPr txBox="1"/>
          <p:nvPr/>
        </p:nvSpPr>
        <p:spPr>
          <a:xfrm>
            <a:off x="8229600" y="5385816"/>
            <a:ext cx="3337560" cy="850392"/>
          </a:xfrm>
          <a:prstGeom prst="rect">
            <a:avLst/>
          </a:prstGeom>
          <a:noFill/>
          <a:ln/>
        </p:spPr>
        <p:txBody>
          <a:bodyPr wrap="square" lIns="0" tIns="0" rIns="0" bIns="0" rtlCol="0" anchor="t"/>
          <a:lstStyle/>
          <a:p>
            <a:pPr indent="0" marL="0">
              <a:buNone/>
            </a:pPr>
            <a:r>
              <a:rPr lang="en-US" sz="1150" b="1" dirty="0">
                <a:solidFill>
                  <a:srgbClr val="4A9EFF"/>
                </a:solidFill>
                <a:latin typeface="Calibri" pitchFamily="34" charset="0"/>
                <a:ea typeface="Calibri" pitchFamily="34" charset="-122"/>
                <a:cs typeface="Calibri" pitchFamily="34" charset="-120"/>
              </a:rPr>
              <a:t>Audited, reversible, no LLM</a:t>
            </a:r>
            <a:endParaRPr lang="en-US" sz="1150" dirty="0"/>
          </a:p>
          <a:p>
            <a:pPr indent="0" marL="0">
              <a:buNone/>
            </a:pPr>
            <a:r>
              <a:rPr lang="en-US" sz="1000" dirty="0">
                <a:solidFill>
                  <a:srgbClr val="C9D1D9"/>
                </a:solidFill>
                <a:latin typeface="Calibri" pitchFamily="34" charset="0"/>
                <a:ea typeface="Calibri" pitchFamily="34" charset="-122"/>
                <a:cs typeface="Calibri" pitchFamily="34" charset="-120"/>
              </a:rPr>
              <a:t>A SHA-256 block per request; wrong batches are retracted with a reason, never deleted; the assistant answers only from records.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4114800" cy="292608"/>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PRAHARI</a:t>
            </a:r>
            <a:pPr indent="0" marL="0">
              <a:buNone/>
            </a:pPr>
            <a:r>
              <a:rPr lang="en-US" sz="1200" dirty="0">
                <a:solidFill>
                  <a:srgbClr val="5C6773"/>
                </a:solidFill>
                <a:latin typeface="Calibri" pitchFamily="34" charset="0"/>
                <a:ea typeface="Calibri" pitchFamily="34" charset="-122"/>
                <a:cs typeface="Calibri" pitchFamily="34" charset="-120"/>
              </a:rPr>
              <a:t>  ·  Team PRAHARI</a:t>
            </a:r>
            <a:endParaRPr lang="en-US" sz="1200" dirty="0"/>
          </a:p>
        </p:txBody>
      </p:sp>
      <p:sp>
        <p:nvSpPr>
          <p:cNvPr id="3" name="Text 1"/>
          <p:cNvSpPr txBox="1"/>
          <p:nvPr/>
        </p:nvSpPr>
        <p:spPr>
          <a:xfrm>
            <a:off x="7680960" y="201168"/>
            <a:ext cx="4114800" cy="292608"/>
          </a:xfrm>
          <a:prstGeom prst="rect">
            <a:avLst/>
          </a:prstGeom>
          <a:noFill/>
          <a:ln/>
        </p:spPr>
        <p:txBody>
          <a:bodyPr wrap="square" lIns="0" tIns="0" rIns="0" bIns="0" rtlCol="0" anchor="ctr"/>
          <a:lstStyle/>
          <a:p>
            <a:pPr algn="r" indent="0" marL="0">
              <a:buNone/>
            </a:pPr>
            <a:r>
              <a:rPr lang="en-US" sz="1100" b="1" dirty="0">
                <a:solidFill>
                  <a:srgbClr val="1F6FEB"/>
                </a:solidFill>
                <a:latin typeface="Calibri" pitchFamily="34" charset="0"/>
                <a:ea typeface="Calibri" pitchFamily="34" charset="-122"/>
                <a:cs typeface="Calibri" pitchFamily="34" charset="-120"/>
              </a:rPr>
              <a:t>SMART INDIA HACKATHON 2026  ·  PS 26189</a:t>
            </a:r>
            <a:endParaRPr lang="en-US" sz="1100" dirty="0"/>
          </a:p>
        </p:txBody>
      </p:sp>
      <p:sp>
        <p:nvSpPr>
          <p:cNvPr id="4" name="Text 2"/>
          <p:cNvSpPr txBox="1"/>
          <p:nvPr/>
        </p:nvSpPr>
        <p:spPr>
          <a:xfrm>
            <a:off x="411480" y="457200"/>
            <a:ext cx="11338560" cy="548640"/>
          </a:xfrm>
          <a:prstGeom prst="rect">
            <a:avLst/>
          </a:prstGeom>
          <a:noFill/>
          <a:ln/>
        </p:spPr>
        <p:txBody>
          <a:bodyPr wrap="square" lIns="0" tIns="0" rIns="0" bIns="0" rtlCol="0" anchor="ctr"/>
          <a:lstStyle/>
          <a:p>
            <a:pPr indent="0" marL="0">
              <a:buNone/>
            </a:pPr>
            <a:r>
              <a:rPr lang="en-US" sz="2800" b="1" dirty="0">
                <a:solidFill>
                  <a:srgbClr val="0D1117"/>
                </a:solidFill>
                <a:latin typeface="Calibri" pitchFamily="34" charset="0"/>
                <a:ea typeface="Calibri" pitchFamily="34" charset="-122"/>
                <a:cs typeface="Calibri" pitchFamily="34" charset="-120"/>
              </a:rPr>
              <a:t>System Architecture</a:t>
            </a:r>
            <a:endParaRPr lang="en-US" sz="2800" dirty="0"/>
          </a:p>
        </p:txBody>
      </p:sp>
      <p:sp>
        <p:nvSpPr>
          <p:cNvPr id="5" name="Text 3"/>
          <p:cNvSpPr txBox="1"/>
          <p:nvPr/>
        </p:nvSpPr>
        <p:spPr>
          <a:xfrm>
            <a:off x="411480" y="1188720"/>
            <a:ext cx="1737360" cy="274320"/>
          </a:xfrm>
          <a:prstGeom prst="rect">
            <a:avLst/>
          </a:prstGeom>
          <a:noFill/>
          <a:ln/>
        </p:spPr>
        <p:txBody>
          <a:bodyPr wrap="square" lIns="0" tIns="0" rIns="0" bIns="0" rtlCol="0" anchor="ctr"/>
          <a:lstStyle/>
          <a:p>
            <a:pPr indent="0" marL="0">
              <a:buNone/>
            </a:pPr>
            <a:r>
              <a:rPr lang="en-US" sz="900" b="1" dirty="0">
                <a:solidFill>
                  <a:srgbClr val="5C6773"/>
                </a:solidFill>
                <a:latin typeface="Calibri" pitchFamily="34" charset="0"/>
                <a:ea typeface="Calibri" pitchFamily="34" charset="-122"/>
                <a:cs typeface="Calibri" pitchFamily="34" charset="-120"/>
              </a:rPr>
              <a:t>DATA SOURCES</a:t>
            </a:r>
            <a:endParaRPr lang="en-US" sz="900" dirty="0"/>
          </a:p>
        </p:txBody>
      </p:sp>
      <p:sp>
        <p:nvSpPr>
          <p:cNvPr id="6" name="Shape 4"/>
          <p:cNvSpPr/>
          <p:nvPr/>
        </p:nvSpPr>
        <p:spPr>
          <a:xfrm>
            <a:off x="411480" y="1508760"/>
            <a:ext cx="1737360" cy="475488"/>
          </a:xfrm>
          <a:prstGeom prst="roundRect">
            <a:avLst>
              <a:gd name="adj" fmla="val 11538"/>
            </a:avLst>
          </a:prstGeom>
          <a:solidFill>
            <a:srgbClr val="F3F5F8"/>
          </a:solidFill>
          <a:ln w="12700">
            <a:solidFill>
              <a:srgbClr val="D0D7DE"/>
            </a:solidFill>
            <a:prstDash val="solid"/>
          </a:ln>
        </p:spPr>
      </p:sp>
      <p:sp>
        <p:nvSpPr>
          <p:cNvPr id="7" name="Text 5"/>
          <p:cNvSpPr txBox="1"/>
          <p:nvPr/>
        </p:nvSpPr>
        <p:spPr>
          <a:xfrm>
            <a:off x="484632" y="1508760"/>
            <a:ext cx="1600200" cy="475488"/>
          </a:xfrm>
          <a:prstGeom prst="rect">
            <a:avLst/>
          </a:prstGeom>
          <a:noFill/>
          <a:ln/>
        </p:spPr>
        <p:txBody>
          <a:bodyPr wrap="square" lIns="0" tIns="0" rIns="0" bIns="0" rtlCol="0" anchor="ctr"/>
          <a:lstStyle/>
          <a:p>
            <a:pPr indent="0" marL="0">
              <a:buNone/>
            </a:pPr>
            <a:r>
              <a:rPr lang="en-US" sz="900" dirty="0">
                <a:solidFill>
                  <a:srgbClr val="1B2430"/>
                </a:solidFill>
                <a:latin typeface="Calibri" pitchFamily="34" charset="0"/>
                <a:ea typeface="Calibri" pitchFamily="34" charset="-122"/>
                <a:cs typeface="Calibri" pitchFamily="34" charset="-120"/>
              </a:rPr>
              <a:t>FIR narratives (CCTNS)</a:t>
            </a:r>
            <a:endParaRPr lang="en-US" sz="900" dirty="0"/>
          </a:p>
        </p:txBody>
      </p:sp>
      <p:sp>
        <p:nvSpPr>
          <p:cNvPr id="8" name="Shape 6"/>
          <p:cNvSpPr/>
          <p:nvPr/>
        </p:nvSpPr>
        <p:spPr>
          <a:xfrm>
            <a:off x="411480" y="2075688"/>
            <a:ext cx="1737360" cy="475488"/>
          </a:xfrm>
          <a:prstGeom prst="roundRect">
            <a:avLst>
              <a:gd name="adj" fmla="val 11538"/>
            </a:avLst>
          </a:prstGeom>
          <a:solidFill>
            <a:srgbClr val="F3F5F8"/>
          </a:solidFill>
          <a:ln w="12700">
            <a:solidFill>
              <a:srgbClr val="D0D7DE"/>
            </a:solidFill>
            <a:prstDash val="solid"/>
          </a:ln>
        </p:spPr>
      </p:sp>
      <p:sp>
        <p:nvSpPr>
          <p:cNvPr id="9" name="Text 7"/>
          <p:cNvSpPr txBox="1"/>
          <p:nvPr/>
        </p:nvSpPr>
        <p:spPr>
          <a:xfrm>
            <a:off x="484632" y="2075688"/>
            <a:ext cx="1600200" cy="475488"/>
          </a:xfrm>
          <a:prstGeom prst="rect">
            <a:avLst/>
          </a:prstGeom>
          <a:noFill/>
          <a:ln/>
        </p:spPr>
        <p:txBody>
          <a:bodyPr wrap="square" lIns="0" tIns="0" rIns="0" bIns="0" rtlCol="0" anchor="ctr"/>
          <a:lstStyle/>
          <a:p>
            <a:pPr indent="0" marL="0">
              <a:buNone/>
            </a:pPr>
            <a:r>
              <a:rPr lang="en-US" sz="900" dirty="0">
                <a:solidFill>
                  <a:srgbClr val="1B2430"/>
                </a:solidFill>
                <a:latin typeface="Calibri" pitchFamily="34" charset="0"/>
                <a:ea typeface="Calibri" pitchFamily="34" charset="-122"/>
                <a:cs typeface="Calibri" pitchFamily="34" charset="-120"/>
              </a:rPr>
              <a:t>Call detail records</a:t>
            </a:r>
            <a:endParaRPr lang="en-US" sz="900" dirty="0"/>
          </a:p>
        </p:txBody>
      </p:sp>
      <p:sp>
        <p:nvSpPr>
          <p:cNvPr id="10" name="Shape 8"/>
          <p:cNvSpPr/>
          <p:nvPr/>
        </p:nvSpPr>
        <p:spPr>
          <a:xfrm>
            <a:off x="411480" y="2642616"/>
            <a:ext cx="1737360" cy="475488"/>
          </a:xfrm>
          <a:prstGeom prst="roundRect">
            <a:avLst>
              <a:gd name="adj" fmla="val 11538"/>
            </a:avLst>
          </a:prstGeom>
          <a:solidFill>
            <a:srgbClr val="F3F5F8"/>
          </a:solidFill>
          <a:ln w="12700">
            <a:solidFill>
              <a:srgbClr val="D0D7DE"/>
            </a:solidFill>
            <a:prstDash val="solid"/>
          </a:ln>
        </p:spPr>
      </p:sp>
      <p:sp>
        <p:nvSpPr>
          <p:cNvPr id="11" name="Text 9"/>
          <p:cNvSpPr txBox="1"/>
          <p:nvPr/>
        </p:nvSpPr>
        <p:spPr>
          <a:xfrm>
            <a:off x="484632" y="2642616"/>
            <a:ext cx="1600200" cy="475488"/>
          </a:xfrm>
          <a:prstGeom prst="rect">
            <a:avLst/>
          </a:prstGeom>
          <a:noFill/>
          <a:ln/>
        </p:spPr>
        <p:txBody>
          <a:bodyPr wrap="square" lIns="0" tIns="0" rIns="0" bIns="0" rtlCol="0" anchor="ctr"/>
          <a:lstStyle/>
          <a:p>
            <a:pPr indent="0" marL="0">
              <a:buNone/>
            </a:pPr>
            <a:r>
              <a:rPr lang="en-US" sz="900" dirty="0">
                <a:solidFill>
                  <a:srgbClr val="1B2430"/>
                </a:solidFill>
                <a:latin typeface="Calibri" pitchFamily="34" charset="0"/>
                <a:ea typeface="Calibri" pitchFamily="34" charset="-122"/>
                <a:cs typeface="Calibri" pitchFamily="34" charset="-120"/>
              </a:rPr>
              <a:t>Bank transfers (FIU-IND)</a:t>
            </a:r>
            <a:endParaRPr lang="en-US" sz="900" dirty="0"/>
          </a:p>
        </p:txBody>
      </p:sp>
      <p:sp>
        <p:nvSpPr>
          <p:cNvPr id="12" name="Shape 10"/>
          <p:cNvSpPr/>
          <p:nvPr/>
        </p:nvSpPr>
        <p:spPr>
          <a:xfrm>
            <a:off x="411480" y="3209544"/>
            <a:ext cx="1737360" cy="475488"/>
          </a:xfrm>
          <a:prstGeom prst="roundRect">
            <a:avLst>
              <a:gd name="adj" fmla="val 11538"/>
            </a:avLst>
          </a:prstGeom>
          <a:solidFill>
            <a:srgbClr val="F3F5F8"/>
          </a:solidFill>
          <a:ln w="12700">
            <a:solidFill>
              <a:srgbClr val="D0D7DE"/>
            </a:solidFill>
            <a:prstDash val="solid"/>
          </a:ln>
        </p:spPr>
      </p:sp>
      <p:sp>
        <p:nvSpPr>
          <p:cNvPr id="13" name="Text 11"/>
          <p:cNvSpPr txBox="1"/>
          <p:nvPr/>
        </p:nvSpPr>
        <p:spPr>
          <a:xfrm>
            <a:off x="484632" y="3209544"/>
            <a:ext cx="1600200" cy="475488"/>
          </a:xfrm>
          <a:prstGeom prst="rect">
            <a:avLst/>
          </a:prstGeom>
          <a:noFill/>
          <a:ln/>
        </p:spPr>
        <p:txBody>
          <a:bodyPr wrap="square" lIns="0" tIns="0" rIns="0" bIns="0" rtlCol="0" anchor="ctr"/>
          <a:lstStyle/>
          <a:p>
            <a:pPr indent="0" marL="0">
              <a:buNone/>
            </a:pPr>
            <a:r>
              <a:rPr lang="en-US" sz="900" dirty="0">
                <a:solidFill>
                  <a:srgbClr val="1B2430"/>
                </a:solidFill>
                <a:latin typeface="Calibri" pitchFamily="34" charset="0"/>
                <a:ea typeface="Calibri" pitchFamily="34" charset="-122"/>
                <a:cs typeface="Calibri" pitchFamily="34" charset="-120"/>
              </a:rPr>
              <a:t>Subscriber · account · vehicle registries</a:t>
            </a:r>
            <a:endParaRPr lang="en-US" sz="900" dirty="0"/>
          </a:p>
        </p:txBody>
      </p:sp>
      <p:sp>
        <p:nvSpPr>
          <p:cNvPr id="14" name="Shape 12"/>
          <p:cNvSpPr/>
          <p:nvPr/>
        </p:nvSpPr>
        <p:spPr>
          <a:xfrm>
            <a:off x="411480" y="3776472"/>
            <a:ext cx="1737360" cy="475488"/>
          </a:xfrm>
          <a:prstGeom prst="roundRect">
            <a:avLst>
              <a:gd name="adj" fmla="val 11538"/>
            </a:avLst>
          </a:prstGeom>
          <a:solidFill>
            <a:srgbClr val="F3F5F8"/>
          </a:solidFill>
          <a:ln w="12700">
            <a:solidFill>
              <a:srgbClr val="D0D7DE"/>
            </a:solidFill>
            <a:prstDash val="solid"/>
          </a:ln>
        </p:spPr>
      </p:sp>
      <p:sp>
        <p:nvSpPr>
          <p:cNvPr id="15" name="Text 13"/>
          <p:cNvSpPr txBox="1"/>
          <p:nvPr/>
        </p:nvSpPr>
        <p:spPr>
          <a:xfrm>
            <a:off x="484632" y="3776472"/>
            <a:ext cx="1600200" cy="475488"/>
          </a:xfrm>
          <a:prstGeom prst="rect">
            <a:avLst/>
          </a:prstGeom>
          <a:noFill/>
          <a:ln/>
        </p:spPr>
        <p:txBody>
          <a:bodyPr wrap="square" lIns="0" tIns="0" rIns="0" bIns="0" rtlCol="0" anchor="ctr"/>
          <a:lstStyle/>
          <a:p>
            <a:pPr indent="0" marL="0">
              <a:buNone/>
            </a:pPr>
            <a:r>
              <a:rPr lang="en-US" sz="900" dirty="0">
                <a:solidFill>
                  <a:srgbClr val="1B2430"/>
                </a:solidFill>
                <a:latin typeface="Calibri" pitchFamily="34" charset="0"/>
                <a:ea typeface="Calibri" pitchFamily="34" charset="-122"/>
                <a:cs typeface="Calibri" pitchFamily="34" charset="-120"/>
              </a:rPr>
              <a:t>Custody rosters · travel manifests</a:t>
            </a:r>
            <a:endParaRPr lang="en-US" sz="900" dirty="0"/>
          </a:p>
        </p:txBody>
      </p:sp>
      <p:sp>
        <p:nvSpPr>
          <p:cNvPr id="16" name="Shape 14"/>
          <p:cNvSpPr/>
          <p:nvPr/>
        </p:nvSpPr>
        <p:spPr>
          <a:xfrm>
            <a:off x="411480" y="4343400"/>
            <a:ext cx="1737360" cy="475488"/>
          </a:xfrm>
          <a:prstGeom prst="roundRect">
            <a:avLst>
              <a:gd name="adj" fmla="val 11538"/>
            </a:avLst>
          </a:prstGeom>
          <a:solidFill>
            <a:srgbClr val="F3F5F8"/>
          </a:solidFill>
          <a:ln w="12700">
            <a:solidFill>
              <a:srgbClr val="D0D7DE"/>
            </a:solidFill>
            <a:prstDash val="solid"/>
          </a:ln>
        </p:spPr>
      </p:sp>
      <p:sp>
        <p:nvSpPr>
          <p:cNvPr id="17" name="Text 15"/>
          <p:cNvSpPr txBox="1"/>
          <p:nvPr/>
        </p:nvSpPr>
        <p:spPr>
          <a:xfrm>
            <a:off x="484632" y="4343400"/>
            <a:ext cx="1600200" cy="475488"/>
          </a:xfrm>
          <a:prstGeom prst="rect">
            <a:avLst/>
          </a:prstGeom>
          <a:noFill/>
          <a:ln/>
        </p:spPr>
        <p:txBody>
          <a:bodyPr wrap="square" lIns="0" tIns="0" rIns="0" bIns="0" rtlCol="0" anchor="ctr"/>
          <a:lstStyle/>
          <a:p>
            <a:pPr indent="0" marL="0">
              <a:buNone/>
            </a:pPr>
            <a:r>
              <a:rPr lang="en-US" sz="900" dirty="0">
                <a:solidFill>
                  <a:srgbClr val="1B2430"/>
                </a:solidFill>
                <a:latin typeface="Calibri" pitchFamily="34" charset="0"/>
                <a:ea typeface="Calibri" pitchFamily="34" charset="-122"/>
                <a:cs typeface="Calibri" pitchFamily="34" charset="-120"/>
              </a:rPr>
              <a:t>ADD DATA: JSON · CSV · FIR text</a:t>
            </a:r>
            <a:endParaRPr lang="en-US" sz="900" dirty="0"/>
          </a:p>
        </p:txBody>
      </p:sp>
      <p:sp>
        <p:nvSpPr>
          <p:cNvPr id="18" name="Shape 16"/>
          <p:cNvSpPr/>
          <p:nvPr/>
        </p:nvSpPr>
        <p:spPr>
          <a:xfrm>
            <a:off x="2212848" y="3017520"/>
            <a:ext cx="256032" cy="256032"/>
          </a:xfrm>
          <a:prstGeom prst="rightArrow">
            <a:avLst/>
          </a:prstGeom>
          <a:solidFill>
            <a:srgbClr val="1F6FEB"/>
          </a:solidFill>
          <a:ln w="12700">
            <a:solidFill>
              <a:srgbClr val="1F6FEB"/>
            </a:solidFill>
            <a:prstDash val="solid"/>
          </a:ln>
        </p:spPr>
      </p:sp>
      <p:sp>
        <p:nvSpPr>
          <p:cNvPr id="19" name="Shape 17"/>
          <p:cNvSpPr/>
          <p:nvPr/>
        </p:nvSpPr>
        <p:spPr>
          <a:xfrm>
            <a:off x="2514600" y="1508760"/>
            <a:ext cx="1691640" cy="3291840"/>
          </a:xfrm>
          <a:prstGeom prst="roundRect">
            <a:avLst>
              <a:gd name="adj" fmla="val 3784"/>
            </a:avLst>
          </a:prstGeom>
          <a:solidFill>
            <a:srgbClr val="E8F0FE"/>
          </a:solidFill>
          <a:ln w="12700">
            <a:solidFill>
              <a:srgbClr val="1F6FEB"/>
            </a:solidFill>
            <a:prstDash val="solid"/>
          </a:ln>
        </p:spPr>
      </p:sp>
      <p:sp>
        <p:nvSpPr>
          <p:cNvPr id="20" name="Text 18"/>
          <p:cNvSpPr txBox="1"/>
          <p:nvPr/>
        </p:nvSpPr>
        <p:spPr>
          <a:xfrm>
            <a:off x="2587752" y="1554480"/>
            <a:ext cx="1545336" cy="3200400"/>
          </a:xfrm>
          <a:prstGeom prst="rect">
            <a:avLst/>
          </a:prstGeom>
          <a:noFill/>
          <a:ln/>
        </p:spPr>
        <p:txBody>
          <a:bodyPr wrap="square" lIns="0" tIns="0" rIns="0" bIns="0" rtlCol="0" anchor="t"/>
          <a:lstStyle/>
          <a:p>
            <a:pPr indent="0" marL="0">
              <a:spcAft>
                <a:spcPts val="100"/>
              </a:spcAft>
              <a:buNone/>
            </a:pPr>
            <a:r>
              <a:rPr lang="en-US" sz="1100" b="1" dirty="0">
                <a:solidFill>
                  <a:srgbClr val="0D1117"/>
                </a:solidFill>
                <a:latin typeface="Calibri" pitchFamily="34" charset="0"/>
                <a:ea typeface="Calibri" pitchFamily="34" charset="-122"/>
                <a:cs typeface="Calibri" pitchFamily="34" charset="-120"/>
              </a:rPr>
              <a:t>1 · INGESTION</a:t>
            </a:r>
            <a:endParaRPr lang="en-US" sz="1100" dirty="0"/>
          </a:p>
          <a:p>
            <a:pPr marL="101600" indent="-101600">
              <a:spcAft>
                <a:spcPts val="100"/>
              </a:spcAft>
              <a:buSzPct val="100000"/>
              <a:buChar char="•"/>
            </a:pPr>
            <a:r>
              <a:rPr lang="en-US" sz="900" dirty="0">
                <a:solidFill>
                  <a:srgbClr val="1B2430"/>
                </a:solidFill>
                <a:latin typeface="Calibri" pitchFamily="34" charset="0"/>
                <a:ea typeface="Calibri" pitchFamily="34" charset="-122"/>
                <a:cs typeface="Calibri" pitchFamily="34" charset="-120"/>
              </a:rPr>
              <a:t>stable record ids: FIR_003, CDR-0007, TXN-0012</a:t>
            </a:r>
            <a:endParaRPr lang="en-US" sz="1100" dirty="0"/>
          </a:p>
          <a:p>
            <a:pPr marL="101600" indent="-101600">
              <a:spcAft>
                <a:spcPts val="100"/>
              </a:spcAft>
              <a:buSzPct val="100000"/>
              <a:buChar char="•"/>
            </a:pPr>
            <a:r>
              <a:rPr lang="en-US" sz="900" dirty="0">
                <a:solidFill>
                  <a:srgbClr val="1B2430"/>
                </a:solidFill>
                <a:latin typeface="Calibri" pitchFamily="34" charset="0"/>
                <a:ea typeface="Calibri" pitchFamily="34" charset="-122"/>
                <a:cs typeface="Calibri" pitchFamily="34" charset="-120"/>
              </a:rPr>
              <a:t>one shared FIR extractor for loader and preview</a:t>
            </a:r>
            <a:endParaRPr lang="en-US" sz="1100" dirty="0"/>
          </a:p>
          <a:p>
            <a:pPr marL="101600" indent="-101600">
              <a:spcAft>
                <a:spcPts val="100"/>
              </a:spcAft>
              <a:buSzPct val="100000"/>
              <a:buChar char="•"/>
            </a:pPr>
            <a:r>
              <a:rPr lang="en-US" sz="900" dirty="0">
                <a:solidFill>
                  <a:srgbClr val="1B2430"/>
                </a:solidFill>
                <a:latin typeface="Calibri" pitchFamily="34" charset="0"/>
                <a:ea typeface="Calibri" pitchFamily="34" charset="-122"/>
                <a:cs typeface="Calibri" pitchFamily="34" charset="-120"/>
              </a:rPr>
              <a:t>validate → quality score → duplicate &amp; holder-conflict checks</a:t>
            </a:r>
            <a:endParaRPr lang="en-US" sz="1100" dirty="0"/>
          </a:p>
          <a:p>
            <a:pPr marL="101600" indent="-101600">
              <a:spcAft>
                <a:spcPts val="100"/>
              </a:spcAft>
              <a:buSzPct val="100000"/>
              <a:buChar char="•"/>
            </a:pPr>
            <a:r>
              <a:rPr lang="en-US" sz="900" dirty="0">
                <a:solidFill>
                  <a:srgbClr val="1B2430"/>
                </a:solidFill>
                <a:latin typeface="Calibri" pitchFamily="34" charset="0"/>
                <a:ea typeface="Calibri" pitchFamily="34" charset="-122"/>
                <a:cs typeface="Calibri" pitchFamily="34" charset="-120"/>
              </a:rPr>
              <a:t>malformed values held, never corrected</a:t>
            </a:r>
            <a:endParaRPr lang="en-US" sz="1100" dirty="0"/>
          </a:p>
          <a:p>
            <a:pPr marL="101600" indent="-101600">
              <a:spcAft>
                <a:spcPts val="100"/>
              </a:spcAft>
              <a:buSzPct val="100000"/>
              <a:buChar char="•"/>
            </a:pPr>
            <a:r>
              <a:rPr lang="en-US" sz="900" dirty="0">
                <a:solidFill>
                  <a:srgbClr val="1B2430"/>
                </a:solidFill>
                <a:latin typeface="Calibri" pitchFamily="34" charset="0"/>
                <a:ea typeface="Calibri" pitchFamily="34" charset="-122"/>
                <a:cs typeface="Calibri" pitchFamily="34" charset="-120"/>
              </a:rPr>
              <a:t>batches retractable with a reason; ids never shift</a:t>
            </a:r>
            <a:endParaRPr lang="en-US" sz="1100" dirty="0"/>
          </a:p>
        </p:txBody>
      </p:sp>
      <p:sp>
        <p:nvSpPr>
          <p:cNvPr id="21" name="Shape 19"/>
          <p:cNvSpPr/>
          <p:nvPr/>
        </p:nvSpPr>
        <p:spPr>
          <a:xfrm>
            <a:off x="4261104" y="3017520"/>
            <a:ext cx="256032" cy="256032"/>
          </a:xfrm>
          <a:prstGeom prst="rightArrow">
            <a:avLst/>
          </a:prstGeom>
          <a:solidFill>
            <a:srgbClr val="1F6FEB"/>
          </a:solidFill>
          <a:ln w="12700">
            <a:solidFill>
              <a:srgbClr val="1F6FEB"/>
            </a:solidFill>
            <a:prstDash val="solid"/>
          </a:ln>
        </p:spPr>
      </p:sp>
      <p:sp>
        <p:nvSpPr>
          <p:cNvPr id="22" name="Shape 20"/>
          <p:cNvSpPr/>
          <p:nvPr/>
        </p:nvSpPr>
        <p:spPr>
          <a:xfrm>
            <a:off x="4572000" y="1508760"/>
            <a:ext cx="1691640" cy="3291840"/>
          </a:xfrm>
          <a:prstGeom prst="roundRect">
            <a:avLst>
              <a:gd name="adj" fmla="val 3784"/>
            </a:avLst>
          </a:prstGeom>
          <a:solidFill>
            <a:srgbClr val="FFF4DE"/>
          </a:solidFill>
          <a:ln w="12700">
            <a:solidFill>
              <a:srgbClr val="B7791F"/>
            </a:solidFill>
            <a:prstDash val="solid"/>
          </a:ln>
        </p:spPr>
      </p:sp>
      <p:sp>
        <p:nvSpPr>
          <p:cNvPr id="23" name="Text 21"/>
          <p:cNvSpPr txBox="1"/>
          <p:nvPr/>
        </p:nvSpPr>
        <p:spPr>
          <a:xfrm>
            <a:off x="4645152" y="1554480"/>
            <a:ext cx="1545336" cy="3200400"/>
          </a:xfrm>
          <a:prstGeom prst="rect">
            <a:avLst/>
          </a:prstGeom>
          <a:noFill/>
          <a:ln/>
        </p:spPr>
        <p:txBody>
          <a:bodyPr wrap="square" lIns="0" tIns="0" rIns="0" bIns="0" rtlCol="0" anchor="t"/>
          <a:lstStyle/>
          <a:p>
            <a:pPr indent="0" marL="0">
              <a:spcAft>
                <a:spcPts val="100"/>
              </a:spcAft>
              <a:buNone/>
            </a:pPr>
            <a:r>
              <a:rPr lang="en-US" sz="1100" b="1" dirty="0">
                <a:solidFill>
                  <a:srgbClr val="0D1117"/>
                </a:solidFill>
                <a:latin typeface="Calibri" pitchFamily="34" charset="0"/>
                <a:ea typeface="Calibri" pitchFamily="34" charset="-122"/>
                <a:cs typeface="Calibri" pitchFamily="34" charset="-120"/>
              </a:rPr>
              <a:t>2 · EVIDENCE LEDGER</a:t>
            </a:r>
            <a:endParaRPr lang="en-US" sz="1100" dirty="0"/>
          </a:p>
          <a:p>
            <a:pPr marL="101600" indent="-101600">
              <a:spcAft>
                <a:spcPts val="100"/>
              </a:spcAft>
              <a:buSzPct val="100000"/>
              <a:buChar char="•"/>
            </a:pPr>
            <a:r>
              <a:rPr lang="en-US" sz="900" dirty="0">
                <a:solidFill>
                  <a:srgbClr val="1B2430"/>
                </a:solidFill>
                <a:latin typeface="Calibri" pitchFamily="34" charset="0"/>
                <a:ea typeface="Calibri" pitchFamily="34" charset="-122"/>
                <a:cs typeface="Calibri" pitchFamily="34" charset="-120"/>
              </a:rPr>
              <a:t>an Assertion with zero records raises</a:t>
            </a:r>
            <a:endParaRPr lang="en-US" sz="1100" dirty="0"/>
          </a:p>
          <a:p>
            <a:pPr marL="101600" indent="-101600">
              <a:spcAft>
                <a:spcPts val="100"/>
              </a:spcAft>
              <a:buSzPct val="100000"/>
              <a:buChar char="•"/>
            </a:pPr>
            <a:r>
              <a:rPr lang="en-US" sz="900" dirty="0">
                <a:solidFill>
                  <a:srgbClr val="1B2430"/>
                </a:solidFill>
                <a:latin typeface="Calibri" pitchFamily="34" charset="0"/>
                <a:ea typeface="Calibri" pitchFamily="34" charset="-122"/>
                <a:cs typeface="Calibri" pitchFamily="34" charset="-120"/>
              </a:rPr>
              <a:t>confidence = base(relation) + corroboration per independent source type + repeat</a:t>
            </a:r>
            <a:endParaRPr lang="en-US" sz="1100" dirty="0"/>
          </a:p>
          <a:p>
            <a:pPr marL="101600" indent="-101600">
              <a:spcAft>
                <a:spcPts val="100"/>
              </a:spcAft>
              <a:buSzPct val="100000"/>
              <a:buChar char="•"/>
            </a:pPr>
            <a:r>
              <a:rPr lang="en-US" sz="900" dirty="0">
                <a:solidFill>
                  <a:srgbClr val="1B2430"/>
                </a:solidFill>
                <a:latin typeface="Calibri" pitchFamily="34" charset="0"/>
                <a:ea typeface="Calibri" pitchFamily="34" charset="-122"/>
                <a:cs typeface="Calibri" pitchFamily="34" charset="-120"/>
              </a:rPr>
              <a:t>capped at 97, floored at 5</a:t>
            </a:r>
            <a:endParaRPr lang="en-US" sz="1100" dirty="0"/>
          </a:p>
          <a:p>
            <a:pPr marL="101600" indent="-101600">
              <a:spcAft>
                <a:spcPts val="100"/>
              </a:spcAft>
              <a:buSzPct val="100000"/>
              <a:buChar char="•"/>
            </a:pPr>
            <a:r>
              <a:rPr lang="en-US" sz="900" dirty="0">
                <a:solidFill>
                  <a:srgbClr val="1B2430"/>
                </a:solidFill>
                <a:latin typeface="Calibri" pitchFamily="34" charset="0"/>
                <a:ea typeface="Calibri" pitchFamily="34" charset="-122"/>
                <a:cs typeface="Calibri" pitchFamily="34" charset="-120"/>
              </a:rPr>
              <a:t>uncertainty list on every edge</a:t>
            </a:r>
            <a:endParaRPr lang="en-US" sz="1100" dirty="0"/>
          </a:p>
          <a:p>
            <a:pPr marL="101600" indent="-101600">
              <a:spcAft>
                <a:spcPts val="100"/>
              </a:spcAft>
              <a:buSzPct val="100000"/>
              <a:buChar char="•"/>
            </a:pPr>
            <a:r>
              <a:rPr lang="en-US" sz="900" dirty="0">
                <a:solidFill>
                  <a:srgbClr val="1B2430"/>
                </a:solidFill>
                <a:latin typeface="Calibri" pitchFamily="34" charset="0"/>
                <a:ea typeface="Calibri" pitchFamily="34" charset="-122"/>
                <a:cs typeface="Calibri" pitchFamily="34" charset="-120"/>
              </a:rPr>
              <a:t>reverse provenance per record</a:t>
            </a:r>
            <a:endParaRPr lang="en-US" sz="1100" dirty="0"/>
          </a:p>
        </p:txBody>
      </p:sp>
      <p:sp>
        <p:nvSpPr>
          <p:cNvPr id="24" name="Shape 22"/>
          <p:cNvSpPr/>
          <p:nvPr/>
        </p:nvSpPr>
        <p:spPr>
          <a:xfrm>
            <a:off x="6318504" y="3017520"/>
            <a:ext cx="256032" cy="256032"/>
          </a:xfrm>
          <a:prstGeom prst="rightArrow">
            <a:avLst/>
          </a:prstGeom>
          <a:solidFill>
            <a:srgbClr val="1F6FEB"/>
          </a:solidFill>
          <a:ln w="12700">
            <a:solidFill>
              <a:srgbClr val="1F6FEB"/>
            </a:solidFill>
            <a:prstDash val="solid"/>
          </a:ln>
        </p:spPr>
      </p:sp>
      <p:sp>
        <p:nvSpPr>
          <p:cNvPr id="25" name="Shape 23"/>
          <p:cNvSpPr/>
          <p:nvPr/>
        </p:nvSpPr>
        <p:spPr>
          <a:xfrm>
            <a:off x="6629400" y="1508760"/>
            <a:ext cx="1691640" cy="3291840"/>
          </a:xfrm>
          <a:prstGeom prst="roundRect">
            <a:avLst>
              <a:gd name="adj" fmla="val 3784"/>
            </a:avLst>
          </a:prstGeom>
          <a:solidFill>
            <a:srgbClr val="F0EAFB"/>
          </a:solidFill>
          <a:ln w="12700">
            <a:solidFill>
              <a:srgbClr val="6F42C1"/>
            </a:solidFill>
            <a:prstDash val="solid"/>
          </a:ln>
        </p:spPr>
      </p:sp>
      <p:sp>
        <p:nvSpPr>
          <p:cNvPr id="26" name="Text 24"/>
          <p:cNvSpPr txBox="1"/>
          <p:nvPr/>
        </p:nvSpPr>
        <p:spPr>
          <a:xfrm>
            <a:off x="6702552" y="1554480"/>
            <a:ext cx="1545336" cy="3200400"/>
          </a:xfrm>
          <a:prstGeom prst="rect">
            <a:avLst/>
          </a:prstGeom>
          <a:noFill/>
          <a:ln/>
        </p:spPr>
        <p:txBody>
          <a:bodyPr wrap="square" lIns="0" tIns="0" rIns="0" bIns="0" rtlCol="0" anchor="t"/>
          <a:lstStyle/>
          <a:p>
            <a:pPr indent="0" marL="0">
              <a:spcAft>
                <a:spcPts val="100"/>
              </a:spcAft>
              <a:buNone/>
            </a:pPr>
            <a:r>
              <a:rPr lang="en-US" sz="1100" b="1" dirty="0">
                <a:solidFill>
                  <a:srgbClr val="0D1117"/>
                </a:solidFill>
                <a:latin typeface="Calibri" pitchFamily="34" charset="0"/>
                <a:ea typeface="Calibri" pitchFamily="34" charset="-122"/>
                <a:cs typeface="Calibri" pitchFamily="34" charset="-120"/>
              </a:rPr>
              <a:t>3 · TEMPORAL GRAPH</a:t>
            </a:r>
            <a:endParaRPr lang="en-US" sz="1100" dirty="0"/>
          </a:p>
          <a:p>
            <a:pPr marL="101600" indent="-101600">
              <a:spcAft>
                <a:spcPts val="100"/>
              </a:spcAft>
              <a:buSzPct val="100000"/>
              <a:buChar char="•"/>
            </a:pPr>
            <a:r>
              <a:rPr lang="en-US" sz="900" dirty="0">
                <a:solidFill>
                  <a:srgbClr val="1B2430"/>
                </a:solidFill>
                <a:latin typeface="Calibri" pitchFamily="34" charset="0"/>
                <a:ea typeface="Calibri" pitchFamily="34" charset="-122"/>
                <a:cs typeface="Calibri" pitchFamily="34" charset="-120"/>
              </a:rPr>
              <a:t>NetworkX; person · unresolved number · corporate entity · vehicle</a:t>
            </a:r>
            <a:endParaRPr lang="en-US" sz="1100" dirty="0"/>
          </a:p>
          <a:p>
            <a:pPr marL="101600" indent="-101600">
              <a:spcAft>
                <a:spcPts val="100"/>
              </a:spcAft>
              <a:buSzPct val="100000"/>
              <a:buChar char="•"/>
            </a:pPr>
            <a:r>
              <a:rPr lang="en-US" sz="900" dirty="0">
                <a:solidFill>
                  <a:srgbClr val="1B2430"/>
                </a:solidFill>
                <a:latin typeface="Calibri" pitchFamily="34" charset="0"/>
                <a:ea typeface="Calibri" pitchFamily="34" charset="-122"/>
                <a:cs typeface="Calibri" pitchFamily="34" charset="-120"/>
              </a:rPr>
              <a:t>co-accused · calls · money · custody · registry relations</a:t>
            </a:r>
            <a:endParaRPr lang="en-US" sz="1100" dirty="0"/>
          </a:p>
          <a:p>
            <a:pPr marL="101600" indent="-101600">
              <a:spcAft>
                <a:spcPts val="100"/>
              </a:spcAft>
              <a:buSzPct val="100000"/>
              <a:buChar char="•"/>
            </a:pPr>
            <a:r>
              <a:rPr lang="en-US" sz="900" dirty="0">
                <a:solidFill>
                  <a:srgbClr val="1B2430"/>
                </a:solidFill>
                <a:latin typeface="Calibri" pitchFamily="34" charset="0"/>
                <a:ea typeface="Calibri" pitchFamily="34" charset="-122"/>
                <a:cs typeface="Calibri" pitchFamily="34" charset="-120"/>
              </a:rPr>
              <a:t>windows all / 30d / 7d / 24h anchored to the case clock</a:t>
            </a:r>
            <a:endParaRPr lang="en-US" sz="1100" dirty="0"/>
          </a:p>
          <a:p>
            <a:pPr marL="101600" indent="-101600">
              <a:spcAft>
                <a:spcPts val="100"/>
              </a:spcAft>
              <a:buSzPct val="100000"/>
              <a:buChar char="•"/>
            </a:pPr>
            <a:r>
              <a:rPr lang="en-US" sz="900" dirty="0">
                <a:solidFill>
                  <a:srgbClr val="1B2430"/>
                </a:solidFill>
                <a:latin typeface="Calibri" pitchFamily="34" charset="0"/>
                <a:ea typeface="Calibri" pitchFamily="34" charset="-122"/>
                <a:cs typeface="Calibri" pitchFamily="34" charset="-120"/>
              </a:rPr>
              <a:t>timeless registries survive every window</a:t>
            </a:r>
            <a:endParaRPr lang="en-US" sz="1100" dirty="0"/>
          </a:p>
        </p:txBody>
      </p:sp>
      <p:sp>
        <p:nvSpPr>
          <p:cNvPr id="27" name="Shape 25"/>
          <p:cNvSpPr/>
          <p:nvPr/>
        </p:nvSpPr>
        <p:spPr>
          <a:xfrm>
            <a:off x="8375904" y="3017520"/>
            <a:ext cx="256032" cy="256032"/>
          </a:xfrm>
          <a:prstGeom prst="rightArrow">
            <a:avLst/>
          </a:prstGeom>
          <a:solidFill>
            <a:srgbClr val="1F6FEB"/>
          </a:solidFill>
          <a:ln w="12700">
            <a:solidFill>
              <a:srgbClr val="1F6FEB"/>
            </a:solidFill>
            <a:prstDash val="solid"/>
          </a:ln>
        </p:spPr>
      </p:sp>
      <p:sp>
        <p:nvSpPr>
          <p:cNvPr id="28" name="Shape 26"/>
          <p:cNvSpPr/>
          <p:nvPr/>
        </p:nvSpPr>
        <p:spPr>
          <a:xfrm>
            <a:off x="8686800" y="1508760"/>
            <a:ext cx="1691640" cy="1005840"/>
          </a:xfrm>
          <a:prstGeom prst="roundRect">
            <a:avLst>
              <a:gd name="adj" fmla="val 6364"/>
            </a:avLst>
          </a:prstGeom>
          <a:solidFill>
            <a:srgbClr val="E6F4EA"/>
          </a:solidFill>
          <a:ln w="12700">
            <a:solidFill>
              <a:srgbClr val="1F8A4C"/>
            </a:solidFill>
            <a:prstDash val="solid"/>
          </a:ln>
        </p:spPr>
      </p:sp>
      <p:sp>
        <p:nvSpPr>
          <p:cNvPr id="29" name="Text 27"/>
          <p:cNvSpPr txBox="1"/>
          <p:nvPr/>
        </p:nvSpPr>
        <p:spPr>
          <a:xfrm>
            <a:off x="8759952" y="1554480"/>
            <a:ext cx="1545336" cy="914400"/>
          </a:xfrm>
          <a:prstGeom prst="rect">
            <a:avLst/>
          </a:prstGeom>
          <a:noFill/>
          <a:ln/>
        </p:spPr>
        <p:txBody>
          <a:bodyPr wrap="square" lIns="0" tIns="0" rIns="0" bIns="0" rtlCol="0" anchor="t"/>
          <a:lstStyle/>
          <a:p>
            <a:pPr indent="0" marL="0">
              <a:spcAft>
                <a:spcPts val="100"/>
              </a:spcAft>
              <a:buNone/>
            </a:pPr>
            <a:r>
              <a:rPr lang="en-US" sz="1000" b="1" dirty="0">
                <a:solidFill>
                  <a:srgbClr val="0D1117"/>
                </a:solidFill>
                <a:latin typeface="Calibri" pitchFamily="34" charset="0"/>
                <a:ea typeface="Calibri" pitchFamily="34" charset="-122"/>
                <a:cs typeface="Calibri" pitchFamily="34" charset="-120"/>
              </a:rPr>
              <a:t>4a · ANALYTICS</a:t>
            </a:r>
            <a:endParaRPr lang="en-US" sz="1000" dirty="0"/>
          </a:p>
          <a:p>
            <a:pPr marL="101600" indent="-101600">
              <a:spcAft>
                <a:spcPts val="100"/>
              </a:spcAft>
              <a:buSzPct val="100000"/>
              <a:buChar char="•"/>
            </a:pPr>
            <a:r>
              <a:rPr lang="en-US" sz="850" dirty="0">
                <a:solidFill>
                  <a:srgbClr val="1B2430"/>
                </a:solidFill>
                <a:latin typeface="Calibri" pitchFamily="34" charset="0"/>
                <a:ea typeface="Calibri" pitchFamily="34" charset="-122"/>
                <a:cs typeface="Calibri" pitchFamily="34" charset="-120"/>
              </a:rPr>
              <a:t>PageRank · betweenness · clusters</a:t>
            </a:r>
            <a:endParaRPr lang="en-US" sz="1000" dirty="0"/>
          </a:p>
          <a:p>
            <a:pPr marL="101600" indent="-101600">
              <a:spcAft>
                <a:spcPts val="100"/>
              </a:spcAft>
              <a:buSzPct val="100000"/>
              <a:buChar char="•"/>
            </a:pPr>
            <a:r>
              <a:rPr lang="en-US" sz="850" dirty="0">
                <a:solidFill>
                  <a:srgbClr val="1B2430"/>
                </a:solidFill>
                <a:latin typeface="Calibri" pitchFamily="34" charset="0"/>
                <a:ea typeface="Calibri" pitchFamily="34" charset="-122"/>
                <a:cs typeface="Calibri" pitchFamily="34" charset="-120"/>
              </a:rPr>
              <a:t>Investigative Lead Score: 8 capped factors</a:t>
            </a:r>
            <a:endParaRPr lang="en-US" sz="1000" dirty="0"/>
          </a:p>
        </p:txBody>
      </p:sp>
      <p:sp>
        <p:nvSpPr>
          <p:cNvPr id="30" name="Shape 28"/>
          <p:cNvSpPr/>
          <p:nvPr/>
        </p:nvSpPr>
        <p:spPr>
          <a:xfrm>
            <a:off x="8686800" y="2651760"/>
            <a:ext cx="1691640" cy="1005840"/>
          </a:xfrm>
          <a:prstGeom prst="roundRect">
            <a:avLst>
              <a:gd name="adj" fmla="val 6364"/>
            </a:avLst>
          </a:prstGeom>
          <a:solidFill>
            <a:srgbClr val="FDECEA"/>
          </a:solidFill>
          <a:ln w="12700">
            <a:solidFill>
              <a:srgbClr val="C0392B"/>
            </a:solidFill>
            <a:prstDash val="solid"/>
          </a:ln>
        </p:spPr>
      </p:sp>
      <p:sp>
        <p:nvSpPr>
          <p:cNvPr id="31" name="Text 29"/>
          <p:cNvSpPr txBox="1"/>
          <p:nvPr/>
        </p:nvSpPr>
        <p:spPr>
          <a:xfrm>
            <a:off x="8759952" y="2697480"/>
            <a:ext cx="1545336" cy="914400"/>
          </a:xfrm>
          <a:prstGeom prst="rect">
            <a:avLst/>
          </a:prstGeom>
          <a:noFill/>
          <a:ln/>
        </p:spPr>
        <p:txBody>
          <a:bodyPr wrap="square" lIns="0" tIns="0" rIns="0" bIns="0" rtlCol="0" anchor="t"/>
          <a:lstStyle/>
          <a:p>
            <a:pPr indent="0" marL="0">
              <a:spcAft>
                <a:spcPts val="100"/>
              </a:spcAft>
              <a:buNone/>
            </a:pPr>
            <a:r>
              <a:rPr lang="en-US" sz="1000" b="1" dirty="0">
                <a:solidFill>
                  <a:srgbClr val="0D1117"/>
                </a:solidFill>
                <a:latin typeface="Calibri" pitchFamily="34" charset="0"/>
                <a:ea typeface="Calibri" pitchFamily="34" charset="-122"/>
                <a:cs typeface="Calibri" pitchFamily="34" charset="-120"/>
              </a:rPr>
              <a:t>4b · ANOMALY ENGINE</a:t>
            </a:r>
            <a:endParaRPr lang="en-US" sz="1000" dirty="0"/>
          </a:p>
          <a:p>
            <a:pPr marL="101600" indent="-101600">
              <a:spcAft>
                <a:spcPts val="100"/>
              </a:spcAft>
              <a:buSzPct val="100000"/>
              <a:buChar char="•"/>
            </a:pPr>
            <a:r>
              <a:rPr lang="en-US" sz="850" dirty="0">
                <a:solidFill>
                  <a:srgbClr val="1B2430"/>
                </a:solidFill>
                <a:latin typeface="Calibri" pitchFamily="34" charset="0"/>
                <a:ea typeface="Calibri" pitchFamily="34" charset="-122"/>
                <a:cs typeface="Calibri" pitchFamily="34" charset="-120"/>
              </a:rPr>
              <a:t>10 detectors, each quantified against a baseline</a:t>
            </a:r>
            <a:endParaRPr lang="en-US" sz="1000" dirty="0"/>
          </a:p>
          <a:p>
            <a:pPr marL="101600" indent="-101600">
              <a:spcAft>
                <a:spcPts val="100"/>
              </a:spcAft>
              <a:buSzPct val="100000"/>
              <a:buChar char="•"/>
            </a:pPr>
            <a:r>
              <a:rPr lang="en-US" sz="850" dirty="0">
                <a:solidFill>
                  <a:srgbClr val="1B2430"/>
                </a:solidFill>
                <a:latin typeface="Calibri" pitchFamily="34" charset="0"/>
                <a:ea typeface="Calibri" pitchFamily="34" charset="-122"/>
                <a:cs typeface="Calibri" pitchFamily="34" charset="-120"/>
              </a:rPr>
              <a:t>median + MAD outliers, spikes, layering</a:t>
            </a:r>
            <a:endParaRPr lang="en-US" sz="1000" dirty="0"/>
          </a:p>
        </p:txBody>
      </p:sp>
      <p:sp>
        <p:nvSpPr>
          <p:cNvPr id="32" name="Shape 30"/>
          <p:cNvSpPr/>
          <p:nvPr/>
        </p:nvSpPr>
        <p:spPr>
          <a:xfrm>
            <a:off x="8686800" y="3794760"/>
            <a:ext cx="1691640" cy="1005840"/>
          </a:xfrm>
          <a:prstGeom prst="roundRect">
            <a:avLst>
              <a:gd name="adj" fmla="val 6364"/>
            </a:avLst>
          </a:prstGeom>
          <a:solidFill>
            <a:srgbClr val="E3F5F8"/>
          </a:solidFill>
          <a:ln w="12700">
            <a:solidFill>
              <a:srgbClr val="0B7285"/>
            </a:solidFill>
            <a:prstDash val="solid"/>
          </a:ln>
        </p:spPr>
      </p:sp>
      <p:sp>
        <p:nvSpPr>
          <p:cNvPr id="33" name="Text 31"/>
          <p:cNvSpPr txBox="1"/>
          <p:nvPr/>
        </p:nvSpPr>
        <p:spPr>
          <a:xfrm>
            <a:off x="8759952" y="3840480"/>
            <a:ext cx="1545336" cy="914400"/>
          </a:xfrm>
          <a:prstGeom prst="rect">
            <a:avLst/>
          </a:prstGeom>
          <a:noFill/>
          <a:ln/>
        </p:spPr>
        <p:txBody>
          <a:bodyPr wrap="square" lIns="0" tIns="0" rIns="0" bIns="0" rtlCol="0" anchor="t"/>
          <a:lstStyle/>
          <a:p>
            <a:pPr indent="0" marL="0">
              <a:spcAft>
                <a:spcPts val="100"/>
              </a:spcAft>
              <a:buNone/>
            </a:pPr>
            <a:r>
              <a:rPr lang="en-US" sz="1000" b="1" dirty="0">
                <a:solidFill>
                  <a:srgbClr val="0D1117"/>
                </a:solidFill>
                <a:latin typeface="Calibri" pitchFamily="34" charset="0"/>
                <a:ea typeface="Calibri" pitchFamily="34" charset="-122"/>
                <a:cs typeface="Calibri" pitchFamily="34" charset="-120"/>
              </a:rPr>
              <a:t>4c · ENTITY RESOLUTION</a:t>
            </a:r>
            <a:endParaRPr lang="en-US" sz="1000" dirty="0"/>
          </a:p>
          <a:p>
            <a:pPr marL="101600" indent="-101600">
              <a:spcAft>
                <a:spcPts val="100"/>
              </a:spcAft>
              <a:buSzPct val="100000"/>
              <a:buChar char="•"/>
            </a:pPr>
            <a:r>
              <a:rPr lang="en-US" sz="850" dirty="0">
                <a:solidFill>
                  <a:srgbClr val="1B2430"/>
                </a:solidFill>
                <a:latin typeface="Calibri" pitchFamily="34" charset="0"/>
                <a:ea typeface="Calibri" pitchFamily="34" charset="-122"/>
                <a:cs typeface="Calibri" pitchFamily="34" charset="-120"/>
              </a:rPr>
              <a:t>phonetic + identifier scoring, banded</a:t>
            </a:r>
            <a:endParaRPr lang="en-US" sz="1000" dirty="0"/>
          </a:p>
          <a:p>
            <a:pPr marL="101600" indent="-101600">
              <a:spcAft>
                <a:spcPts val="100"/>
              </a:spcAft>
              <a:buSzPct val="100000"/>
              <a:buChar char="•"/>
            </a:pPr>
            <a:r>
              <a:rPr lang="en-US" sz="850" dirty="0">
                <a:solidFill>
                  <a:srgbClr val="1B2430"/>
                </a:solidFill>
                <a:latin typeface="Calibri" pitchFamily="34" charset="0"/>
                <a:ea typeface="Calibri" pitchFamily="34" charset="-122"/>
                <a:cs typeface="Calibri" pitchFamily="34" charset="-120"/>
              </a:rPr>
              <a:t>never auto-merged; −35 on conflicts</a:t>
            </a:r>
            <a:endParaRPr lang="en-US" sz="1000" dirty="0"/>
          </a:p>
        </p:txBody>
      </p:sp>
      <p:sp>
        <p:nvSpPr>
          <p:cNvPr id="34" name="Shape 32"/>
          <p:cNvSpPr/>
          <p:nvPr/>
        </p:nvSpPr>
        <p:spPr>
          <a:xfrm>
            <a:off x="10433304" y="3017520"/>
            <a:ext cx="256032" cy="256032"/>
          </a:xfrm>
          <a:prstGeom prst="rightArrow">
            <a:avLst/>
          </a:prstGeom>
          <a:solidFill>
            <a:srgbClr val="1F6FEB"/>
          </a:solidFill>
          <a:ln w="12700">
            <a:solidFill>
              <a:srgbClr val="1F6FEB"/>
            </a:solidFill>
            <a:prstDash val="solid"/>
          </a:ln>
        </p:spPr>
      </p:sp>
      <p:sp>
        <p:nvSpPr>
          <p:cNvPr id="35" name="Shape 33"/>
          <p:cNvSpPr/>
          <p:nvPr/>
        </p:nvSpPr>
        <p:spPr>
          <a:xfrm>
            <a:off x="10744200" y="1508760"/>
            <a:ext cx="1051560" cy="1554480"/>
          </a:xfrm>
          <a:prstGeom prst="roundRect">
            <a:avLst>
              <a:gd name="adj" fmla="val 6087"/>
            </a:avLst>
          </a:prstGeom>
          <a:solidFill>
            <a:srgbClr val="F3F5F8"/>
          </a:solidFill>
          <a:ln w="12700">
            <a:solidFill>
              <a:srgbClr val="D0D7DE"/>
            </a:solidFill>
            <a:prstDash val="solid"/>
          </a:ln>
        </p:spPr>
      </p:sp>
      <p:sp>
        <p:nvSpPr>
          <p:cNvPr id="36" name="Text 34"/>
          <p:cNvSpPr txBox="1"/>
          <p:nvPr/>
        </p:nvSpPr>
        <p:spPr>
          <a:xfrm>
            <a:off x="10817352" y="1554480"/>
            <a:ext cx="905256" cy="1463040"/>
          </a:xfrm>
          <a:prstGeom prst="rect">
            <a:avLst/>
          </a:prstGeom>
          <a:noFill/>
          <a:ln/>
        </p:spPr>
        <p:txBody>
          <a:bodyPr wrap="square" lIns="0" tIns="0" rIns="0" bIns="0" rtlCol="0" anchor="t"/>
          <a:lstStyle/>
          <a:p>
            <a:pPr indent="0" marL="0">
              <a:spcAft>
                <a:spcPts val="100"/>
              </a:spcAft>
              <a:buNone/>
            </a:pPr>
            <a:r>
              <a:rPr lang="en-US" sz="1000" b="1" dirty="0">
                <a:solidFill>
                  <a:srgbClr val="0D1117"/>
                </a:solidFill>
                <a:latin typeface="Calibri" pitchFamily="34" charset="0"/>
                <a:ea typeface="Calibri" pitchFamily="34" charset="-122"/>
                <a:cs typeface="Calibri" pitchFamily="34" charset="-120"/>
              </a:rPr>
              <a:t>5 · API</a:t>
            </a:r>
            <a:endParaRPr lang="en-US" sz="1000" dirty="0"/>
          </a:p>
          <a:p>
            <a:pPr marL="101600" indent="-101600">
              <a:spcAft>
                <a:spcPts val="100"/>
              </a:spcAft>
              <a:buSzPct val="100000"/>
              <a:buChar char="•"/>
            </a:pPr>
            <a:r>
              <a:rPr lang="en-US" sz="800" dirty="0">
                <a:solidFill>
                  <a:srgbClr val="1B2430"/>
                </a:solidFill>
                <a:latin typeface="Calibri" pitchFamily="34" charset="0"/>
                <a:ea typeface="Calibri" pitchFamily="34" charset="-122"/>
                <a:cs typeface="Calibri" pitchFamily="34" charset="-120"/>
              </a:rPr>
              <a:t>FastAPI</a:t>
            </a:r>
            <a:endParaRPr lang="en-US" sz="1000" dirty="0"/>
          </a:p>
          <a:p>
            <a:pPr marL="101600" indent="-101600">
              <a:spcAft>
                <a:spcPts val="100"/>
              </a:spcAft>
              <a:buSzPct val="100000"/>
              <a:buChar char="•"/>
            </a:pPr>
            <a:r>
              <a:rPr lang="en-US" sz="800" dirty="0">
                <a:solidFill>
                  <a:srgbClr val="1B2430"/>
                </a:solidFill>
                <a:latin typeface="Calibri" pitchFamily="34" charset="0"/>
                <a:ea typeface="Calibri" pitchFamily="34" charset="-122"/>
                <a:cs typeface="Calibri" pitchFamily="34" charset="-120"/>
              </a:rPr>
              <a:t>graph · entity · case file · leads · anomalies · ask · intake · decisions · audit</a:t>
            </a:r>
            <a:endParaRPr lang="en-US" sz="1000" dirty="0"/>
          </a:p>
        </p:txBody>
      </p:sp>
      <p:sp>
        <p:nvSpPr>
          <p:cNvPr id="37" name="Shape 35"/>
          <p:cNvSpPr/>
          <p:nvPr/>
        </p:nvSpPr>
        <p:spPr>
          <a:xfrm>
            <a:off x="10744200" y="3200400"/>
            <a:ext cx="1051560" cy="1600200"/>
          </a:xfrm>
          <a:prstGeom prst="roundRect">
            <a:avLst>
              <a:gd name="adj" fmla="val 6087"/>
            </a:avLst>
          </a:prstGeom>
          <a:solidFill>
            <a:srgbClr val="0D1117"/>
          </a:solidFill>
          <a:ln w="12700">
            <a:solidFill>
              <a:srgbClr val="0D1117"/>
            </a:solidFill>
            <a:prstDash val="solid"/>
          </a:ln>
        </p:spPr>
      </p:sp>
      <p:sp>
        <p:nvSpPr>
          <p:cNvPr id="38" name="Text 36"/>
          <p:cNvSpPr txBox="1"/>
          <p:nvPr/>
        </p:nvSpPr>
        <p:spPr>
          <a:xfrm>
            <a:off x="10817352" y="3246120"/>
            <a:ext cx="905256" cy="1508760"/>
          </a:xfrm>
          <a:prstGeom prst="rect">
            <a:avLst/>
          </a:prstGeom>
          <a:noFill/>
          <a:ln/>
        </p:spPr>
        <p:txBody>
          <a:bodyPr wrap="square" lIns="0" tIns="0" rIns="0" bIns="0" rtlCol="0" anchor="t"/>
          <a:lstStyle/>
          <a:p>
            <a:pPr indent="0" marL="0">
              <a:spcAft>
                <a:spcPts val="100"/>
              </a:spcAft>
              <a:buNone/>
            </a:pPr>
            <a:r>
              <a:rPr lang="en-US" sz="1000" b="1" dirty="0">
                <a:solidFill>
                  <a:srgbClr val="FFFFFF"/>
                </a:solidFill>
                <a:latin typeface="Calibri" pitchFamily="34" charset="0"/>
                <a:ea typeface="Calibri" pitchFamily="34" charset="-122"/>
                <a:cs typeface="Calibri" pitchFamily="34" charset="-120"/>
              </a:rPr>
              <a:t>6 · BOARD</a:t>
            </a:r>
            <a:endParaRPr lang="en-US" sz="1000" dirty="0"/>
          </a:p>
          <a:p>
            <a:pPr marL="101600" indent="-101600">
              <a:spcAft>
                <a:spcPts val="100"/>
              </a:spcAft>
              <a:buSzPct val="100000"/>
              <a:buChar char="•"/>
            </a:pPr>
            <a:r>
              <a:rPr lang="en-US" sz="800" dirty="0">
                <a:solidFill>
                  <a:srgbClr val="C9D1D9"/>
                </a:solidFill>
                <a:latin typeface="Calibri" pitchFamily="34" charset="0"/>
                <a:ea typeface="Calibri" pitchFamily="34" charset="-122"/>
                <a:cs typeface="Calibri" pitchFamily="34" charset="-120"/>
              </a:rPr>
              <a:t>Case Board · Case File</a:t>
            </a:r>
            <a:endParaRPr lang="en-US" sz="1000" dirty="0"/>
          </a:p>
          <a:p>
            <a:pPr marL="101600" indent="-101600">
              <a:spcAft>
                <a:spcPts val="100"/>
              </a:spcAft>
              <a:buSzPct val="100000"/>
              <a:buChar char="•"/>
            </a:pPr>
            <a:r>
              <a:rPr lang="en-US" sz="800" dirty="0">
                <a:solidFill>
                  <a:srgbClr val="C9D1D9"/>
                </a:solidFill>
                <a:latin typeface="Calibri" pitchFamily="34" charset="0"/>
                <a:ea typeface="Calibri" pitchFamily="34" charset="-122"/>
                <a:cs typeface="Calibri" pitchFamily="34" charset="-120"/>
              </a:rPr>
              <a:t>Ask PRAHARI (grounded)</a:t>
            </a:r>
            <a:endParaRPr lang="en-US" sz="1000" dirty="0"/>
          </a:p>
          <a:p>
            <a:pPr marL="101600" indent="-101600">
              <a:spcAft>
                <a:spcPts val="100"/>
              </a:spcAft>
              <a:buSzPct val="100000"/>
              <a:buChar char="•"/>
            </a:pPr>
            <a:r>
              <a:rPr lang="en-US" sz="800" dirty="0">
                <a:solidFill>
                  <a:srgbClr val="C9D1D9"/>
                </a:solidFill>
                <a:latin typeface="Calibri" pitchFamily="34" charset="0"/>
                <a:ea typeface="Calibri" pitchFamily="34" charset="-122"/>
                <a:cs typeface="Calibri" pitchFamily="34" charset="-120"/>
              </a:rPr>
              <a:t>Add Data · Retract</a:t>
            </a:r>
            <a:endParaRPr lang="en-US" sz="1000" dirty="0"/>
          </a:p>
          <a:p>
            <a:pPr marL="101600" indent="-101600">
              <a:spcAft>
                <a:spcPts val="100"/>
              </a:spcAft>
              <a:buSzPct val="100000"/>
              <a:buChar char="•"/>
            </a:pPr>
            <a:r>
              <a:rPr lang="en-US" sz="800" dirty="0">
                <a:solidFill>
                  <a:srgbClr val="C9D1D9"/>
                </a:solidFill>
                <a:latin typeface="Calibri" pitchFamily="34" charset="0"/>
                <a:ea typeface="Calibri" pitchFamily="34" charset="-122"/>
                <a:cs typeface="Calibri" pitchFamily="34" charset="-120"/>
              </a:rPr>
              <a:t>Audit · Report</a:t>
            </a:r>
            <a:endParaRPr lang="en-US" sz="1000" dirty="0"/>
          </a:p>
        </p:txBody>
      </p:sp>
      <p:sp>
        <p:nvSpPr>
          <p:cNvPr id="39" name="Shape 37"/>
          <p:cNvSpPr/>
          <p:nvPr/>
        </p:nvSpPr>
        <p:spPr>
          <a:xfrm>
            <a:off x="2514600" y="4956048"/>
            <a:ext cx="9281160" cy="475488"/>
          </a:xfrm>
          <a:prstGeom prst="roundRect">
            <a:avLst>
              <a:gd name="adj" fmla="val 11538"/>
            </a:avLst>
          </a:prstGeom>
          <a:solidFill>
            <a:srgbClr val="161B22"/>
          </a:solidFill>
          <a:ln w="12700">
            <a:solidFill>
              <a:srgbClr val="161B22"/>
            </a:solidFill>
            <a:prstDash val="solid"/>
          </a:ln>
        </p:spPr>
      </p:sp>
      <p:sp>
        <p:nvSpPr>
          <p:cNvPr id="40" name="Text 38"/>
          <p:cNvSpPr txBox="1"/>
          <p:nvPr/>
        </p:nvSpPr>
        <p:spPr>
          <a:xfrm>
            <a:off x="2651760" y="4956048"/>
            <a:ext cx="9052560" cy="475488"/>
          </a:xfrm>
          <a:prstGeom prst="rect">
            <a:avLst/>
          </a:prstGeom>
          <a:noFill/>
          <a:ln/>
        </p:spPr>
        <p:txBody>
          <a:bodyPr wrap="square" lIns="0" tIns="0" rIns="0" bIns="0" rtlCol="0" anchor="ctr"/>
          <a:lstStyle/>
          <a:p>
            <a:pPr indent="0" marL="0">
              <a:buNone/>
            </a:pPr>
            <a:r>
              <a:rPr lang="en-US" sz="950" b="1" dirty="0">
                <a:solidFill>
                  <a:srgbClr val="3FB950"/>
                </a:solidFill>
                <a:latin typeface="Calibri" pitchFamily="34" charset="0"/>
                <a:ea typeface="Calibri" pitchFamily="34" charset="-122"/>
                <a:cs typeface="Calibri" pitchFamily="34" charset="-120"/>
              </a:rPr>
              <a:t>AUDIT CHAIN  </a:t>
            </a:r>
            <a:pPr indent="0" marL="0">
              <a:buNone/>
            </a:pPr>
            <a:r>
              <a:rPr lang="en-US" sz="950" dirty="0">
                <a:solidFill>
                  <a:srgbClr val="C9D1D9"/>
                </a:solidFill>
                <a:latin typeface="Calibri" pitchFamily="34" charset="0"/>
                <a:ea typeface="Calibri" pitchFamily="34" charset="-122"/>
                <a:cs typeface="Calibri" pitchFamily="34" charset="-120"/>
              </a:rPr>
              <a:t>every request becomes a SHA-256 block before it is served · atomic writes under a lock · edits, deletions and reordering detected · tamper demo runs on a copy · decisions and retractions carry their reason</a:t>
            </a:r>
            <a:endParaRPr lang="en-US" sz="950" dirty="0"/>
          </a:p>
        </p:txBody>
      </p:sp>
      <p:sp>
        <p:nvSpPr>
          <p:cNvPr id="41" name="Text 39"/>
          <p:cNvSpPr txBox="1"/>
          <p:nvPr/>
        </p:nvSpPr>
        <p:spPr>
          <a:xfrm>
            <a:off x="411480" y="5559552"/>
            <a:ext cx="1828800" cy="274320"/>
          </a:xfrm>
          <a:prstGeom prst="rect">
            <a:avLst/>
          </a:prstGeom>
          <a:noFill/>
          <a:ln/>
        </p:spPr>
        <p:txBody>
          <a:bodyPr wrap="square" lIns="0" tIns="0" rIns="0" bIns="0" rtlCol="0" anchor="ctr"/>
          <a:lstStyle/>
          <a:p>
            <a:pPr indent="0" marL="0">
              <a:buNone/>
            </a:pPr>
            <a:r>
              <a:rPr lang="en-US" sz="900" b="1" dirty="0">
                <a:solidFill>
                  <a:srgbClr val="5C6773"/>
                </a:solidFill>
                <a:latin typeface="Calibri" pitchFamily="34" charset="0"/>
                <a:ea typeface="Calibri" pitchFamily="34" charset="-122"/>
                <a:cs typeface="Calibri" pitchFamily="34" charset="-120"/>
              </a:rPr>
              <a:t>TECH STACK</a:t>
            </a:r>
            <a:endParaRPr lang="en-US" sz="900" dirty="0"/>
          </a:p>
        </p:txBody>
      </p:sp>
      <p:sp>
        <p:nvSpPr>
          <p:cNvPr id="42" name="Shape 40"/>
          <p:cNvSpPr/>
          <p:nvPr/>
        </p:nvSpPr>
        <p:spPr>
          <a:xfrm>
            <a:off x="411480" y="5833872"/>
            <a:ext cx="2724912" cy="731520"/>
          </a:xfrm>
          <a:prstGeom prst="roundRect">
            <a:avLst>
              <a:gd name="adj" fmla="val 10000"/>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43" name="Text 41"/>
          <p:cNvSpPr txBox="1"/>
          <p:nvPr/>
        </p:nvSpPr>
        <p:spPr>
          <a:xfrm>
            <a:off x="521208" y="5870448"/>
            <a:ext cx="2514600" cy="658368"/>
          </a:xfrm>
          <a:prstGeom prst="rect">
            <a:avLst/>
          </a:prstGeom>
          <a:noFill/>
          <a:ln/>
        </p:spPr>
        <p:txBody>
          <a:bodyPr wrap="square" lIns="0" tIns="0" rIns="0" bIns="0" rtlCol="0" anchor="ctr"/>
          <a:lstStyle/>
          <a:p>
            <a:pPr indent="0" marL="0">
              <a:buNone/>
            </a:pPr>
            <a:r>
              <a:rPr lang="en-US" sz="1000" b="1" dirty="0">
                <a:solidFill>
                  <a:srgbClr val="1F6FEB"/>
                </a:solidFill>
                <a:latin typeface="Calibri" pitchFamily="34" charset="0"/>
                <a:ea typeface="Calibri" pitchFamily="34" charset="-122"/>
                <a:cs typeface="Calibri" pitchFamily="34" charset="-120"/>
              </a:rPr>
              <a:t>Backend</a:t>
            </a:r>
            <a:endParaRPr lang="en-US" sz="1000" dirty="0"/>
          </a:p>
          <a:p>
            <a:pPr indent="0" marL="0">
              <a:buNone/>
            </a:pPr>
            <a:r>
              <a:rPr lang="en-US" sz="900" dirty="0">
                <a:solidFill>
                  <a:srgbClr val="1B2430"/>
                </a:solidFill>
                <a:latin typeface="Calibri" pitchFamily="34" charset="0"/>
                <a:ea typeface="Calibri" pitchFamily="34" charset="-122"/>
                <a:cs typeface="Calibri" pitchFamily="34" charset="-120"/>
              </a:rPr>
              <a:t>Python 3 · FastAPI · NetworkX · pytest (190 tests on an isolated data copy)</a:t>
            </a:r>
            <a:endParaRPr lang="en-US" sz="1000" dirty="0"/>
          </a:p>
        </p:txBody>
      </p:sp>
      <p:sp>
        <p:nvSpPr>
          <p:cNvPr id="44" name="Shape 42"/>
          <p:cNvSpPr/>
          <p:nvPr/>
        </p:nvSpPr>
        <p:spPr>
          <a:xfrm>
            <a:off x="3264408" y="5833872"/>
            <a:ext cx="2724912" cy="731520"/>
          </a:xfrm>
          <a:prstGeom prst="roundRect">
            <a:avLst>
              <a:gd name="adj" fmla="val 10000"/>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45" name="Text 43"/>
          <p:cNvSpPr txBox="1"/>
          <p:nvPr/>
        </p:nvSpPr>
        <p:spPr>
          <a:xfrm>
            <a:off x="3374136" y="5870448"/>
            <a:ext cx="2514600" cy="658368"/>
          </a:xfrm>
          <a:prstGeom prst="rect">
            <a:avLst/>
          </a:prstGeom>
          <a:noFill/>
          <a:ln/>
        </p:spPr>
        <p:txBody>
          <a:bodyPr wrap="square" lIns="0" tIns="0" rIns="0" bIns="0" rtlCol="0" anchor="ctr"/>
          <a:lstStyle/>
          <a:p>
            <a:pPr indent="0" marL="0">
              <a:buNone/>
            </a:pPr>
            <a:r>
              <a:rPr lang="en-US" sz="1000" b="1" dirty="0">
                <a:solidFill>
                  <a:srgbClr val="6F42C1"/>
                </a:solidFill>
                <a:latin typeface="Calibri" pitchFamily="34" charset="0"/>
                <a:ea typeface="Calibri" pitchFamily="34" charset="-122"/>
                <a:cs typeface="Calibri" pitchFamily="34" charset="-120"/>
              </a:rPr>
              <a:t>Frontend</a:t>
            </a:r>
            <a:endParaRPr lang="en-US" sz="1000" dirty="0"/>
          </a:p>
          <a:p>
            <a:pPr indent="0" marL="0">
              <a:buNone/>
            </a:pPr>
            <a:r>
              <a:rPr lang="en-US" sz="900" dirty="0">
                <a:solidFill>
                  <a:srgbClr val="1B2430"/>
                </a:solidFill>
                <a:latin typeface="Calibri" pitchFamily="34" charset="0"/>
                <a:ea typeface="Calibri" pitchFamily="34" charset="-122"/>
                <a:cs typeface="Calibri" pitchFamily="34" charset="-120"/>
              </a:rPr>
              <a:t>vis-network (vendored, offline) · HTML / CSS / JS · printable report</a:t>
            </a:r>
            <a:endParaRPr lang="en-US" sz="1000" dirty="0"/>
          </a:p>
        </p:txBody>
      </p:sp>
      <p:sp>
        <p:nvSpPr>
          <p:cNvPr id="46" name="Shape 44"/>
          <p:cNvSpPr/>
          <p:nvPr/>
        </p:nvSpPr>
        <p:spPr>
          <a:xfrm>
            <a:off x="6117336" y="5833872"/>
            <a:ext cx="2724912" cy="731520"/>
          </a:xfrm>
          <a:prstGeom prst="roundRect">
            <a:avLst>
              <a:gd name="adj" fmla="val 10000"/>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47" name="Text 45"/>
          <p:cNvSpPr txBox="1"/>
          <p:nvPr/>
        </p:nvSpPr>
        <p:spPr>
          <a:xfrm>
            <a:off x="6227064" y="5870448"/>
            <a:ext cx="2514600" cy="658368"/>
          </a:xfrm>
          <a:prstGeom prst="rect">
            <a:avLst/>
          </a:prstGeom>
          <a:noFill/>
          <a:ln/>
        </p:spPr>
        <p:txBody>
          <a:bodyPr wrap="square" lIns="0" tIns="0" rIns="0" bIns="0" rtlCol="0" anchor="ctr"/>
          <a:lstStyle/>
          <a:p>
            <a:pPr indent="0" marL="0">
              <a:buNone/>
            </a:pPr>
            <a:r>
              <a:rPr lang="en-US" sz="1000" b="1" dirty="0">
                <a:solidFill>
                  <a:srgbClr val="1F8A4C"/>
                </a:solidFill>
                <a:latin typeface="Calibri" pitchFamily="34" charset="0"/>
                <a:ea typeface="Calibri" pitchFamily="34" charset="-122"/>
                <a:cs typeface="Calibri" pitchFamily="34" charset="-120"/>
              </a:rPr>
              <a:t>Integrity</a:t>
            </a:r>
            <a:endParaRPr lang="en-US" sz="1000" dirty="0"/>
          </a:p>
          <a:p>
            <a:pPr indent="0" marL="0">
              <a:buNone/>
            </a:pPr>
            <a:r>
              <a:rPr lang="en-US" sz="900" dirty="0">
                <a:solidFill>
                  <a:srgbClr val="1B2430"/>
                </a:solidFill>
                <a:latin typeface="Calibri" pitchFamily="34" charset="0"/>
                <a:ea typeface="Calibri" pitchFamily="34" charset="-122"/>
                <a:cs typeface="Calibri" pitchFamily="34" charset="-120"/>
              </a:rPr>
              <a:t>SHA-256 hash chain · JSON stores with atomic writes · seed snapshot + reset</a:t>
            </a:r>
            <a:endParaRPr lang="en-US" sz="1000" dirty="0"/>
          </a:p>
        </p:txBody>
      </p:sp>
      <p:sp>
        <p:nvSpPr>
          <p:cNvPr id="48" name="Shape 46"/>
          <p:cNvSpPr/>
          <p:nvPr/>
        </p:nvSpPr>
        <p:spPr>
          <a:xfrm>
            <a:off x="8970264" y="5833872"/>
            <a:ext cx="2724912" cy="731520"/>
          </a:xfrm>
          <a:prstGeom prst="roundRect">
            <a:avLst>
              <a:gd name="adj" fmla="val 10000"/>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49" name="Text 47"/>
          <p:cNvSpPr txBox="1"/>
          <p:nvPr/>
        </p:nvSpPr>
        <p:spPr>
          <a:xfrm>
            <a:off x="9079992" y="5870448"/>
            <a:ext cx="2514600" cy="658368"/>
          </a:xfrm>
          <a:prstGeom prst="rect">
            <a:avLst/>
          </a:prstGeom>
          <a:noFill/>
          <a:ln/>
        </p:spPr>
        <p:txBody>
          <a:bodyPr wrap="square" lIns="0" tIns="0" rIns="0" bIns="0" rtlCol="0" anchor="ctr"/>
          <a:lstStyle/>
          <a:p>
            <a:pPr indent="0" marL="0">
              <a:buNone/>
            </a:pPr>
            <a:r>
              <a:rPr lang="en-US" sz="1000" b="1" dirty="0">
                <a:solidFill>
                  <a:srgbClr val="B7791F"/>
                </a:solidFill>
                <a:latin typeface="Calibri" pitchFamily="34" charset="0"/>
                <a:ea typeface="Calibri" pitchFamily="34" charset="-122"/>
                <a:cs typeface="Calibri" pitchFamily="34" charset="-120"/>
              </a:rPr>
              <a:t>Principle</a:t>
            </a:r>
            <a:endParaRPr lang="en-US" sz="1000" dirty="0"/>
          </a:p>
          <a:p>
            <a:pPr indent="0" marL="0">
              <a:buNone/>
            </a:pPr>
            <a:r>
              <a:rPr lang="en-US" sz="900" dirty="0">
                <a:solidFill>
                  <a:srgbClr val="1B2430"/>
                </a:solidFill>
                <a:latin typeface="Calibri" pitchFamily="34" charset="0"/>
                <a:ea typeface="Calibri" pitchFamily="34" charset="-122"/>
                <a:cs typeface="Calibri" pitchFamily="34" charset="-120"/>
              </a:rPr>
              <a:t>no LLM · no external calls · synthetic data · every number at /api/config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4114800" cy="292608"/>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PRAHARI</a:t>
            </a:r>
            <a:pPr indent="0" marL="0">
              <a:buNone/>
            </a:pPr>
            <a:r>
              <a:rPr lang="en-US" sz="1200" dirty="0">
                <a:solidFill>
                  <a:srgbClr val="5C6773"/>
                </a:solidFill>
                <a:latin typeface="Calibri" pitchFamily="34" charset="0"/>
                <a:ea typeface="Calibri" pitchFamily="34" charset="-122"/>
                <a:cs typeface="Calibri" pitchFamily="34" charset="-120"/>
              </a:rPr>
              <a:t>  ·  Team PRAHARI</a:t>
            </a:r>
            <a:endParaRPr lang="en-US" sz="1200" dirty="0"/>
          </a:p>
        </p:txBody>
      </p:sp>
      <p:sp>
        <p:nvSpPr>
          <p:cNvPr id="3" name="Text 1"/>
          <p:cNvSpPr txBox="1"/>
          <p:nvPr/>
        </p:nvSpPr>
        <p:spPr>
          <a:xfrm>
            <a:off x="7680960" y="201168"/>
            <a:ext cx="4114800" cy="292608"/>
          </a:xfrm>
          <a:prstGeom prst="rect">
            <a:avLst/>
          </a:prstGeom>
          <a:noFill/>
          <a:ln/>
        </p:spPr>
        <p:txBody>
          <a:bodyPr wrap="square" lIns="0" tIns="0" rIns="0" bIns="0" rtlCol="0" anchor="ctr"/>
          <a:lstStyle/>
          <a:p>
            <a:pPr algn="r" indent="0" marL="0">
              <a:buNone/>
            </a:pPr>
            <a:r>
              <a:rPr lang="en-US" sz="1100" b="1" dirty="0">
                <a:solidFill>
                  <a:srgbClr val="1F6FEB"/>
                </a:solidFill>
                <a:latin typeface="Calibri" pitchFamily="34" charset="0"/>
                <a:ea typeface="Calibri" pitchFamily="34" charset="-122"/>
                <a:cs typeface="Calibri" pitchFamily="34" charset="-120"/>
              </a:rPr>
              <a:t>SMART INDIA HACKATHON 2026  ·  PS 26189</a:t>
            </a:r>
            <a:endParaRPr lang="en-US" sz="1100" dirty="0"/>
          </a:p>
        </p:txBody>
      </p:sp>
      <p:sp>
        <p:nvSpPr>
          <p:cNvPr id="4" name="Text 2"/>
          <p:cNvSpPr txBox="1"/>
          <p:nvPr/>
        </p:nvSpPr>
        <p:spPr>
          <a:xfrm>
            <a:off x="411480" y="457200"/>
            <a:ext cx="11338560" cy="548640"/>
          </a:xfrm>
          <a:prstGeom prst="rect">
            <a:avLst/>
          </a:prstGeom>
          <a:noFill/>
          <a:ln/>
        </p:spPr>
        <p:txBody>
          <a:bodyPr wrap="square" lIns="0" tIns="0" rIns="0" bIns="0" rtlCol="0" anchor="ctr"/>
          <a:lstStyle/>
          <a:p>
            <a:pPr indent="0" marL="0">
              <a:buNone/>
            </a:pPr>
            <a:r>
              <a:rPr lang="en-US" sz="2800" b="1" dirty="0">
                <a:solidFill>
                  <a:srgbClr val="0D1117"/>
                </a:solidFill>
                <a:latin typeface="Calibri" pitchFamily="34" charset="0"/>
                <a:ea typeface="Calibri" pitchFamily="34" charset="-122"/>
                <a:cs typeface="Calibri" pitchFamily="34" charset="-120"/>
              </a:rPr>
              <a:t>Potential Challenges  →  How We Tackle Them</a:t>
            </a:r>
            <a:endParaRPr lang="en-US" sz="2800" dirty="0"/>
          </a:p>
        </p:txBody>
      </p:sp>
      <p:sp>
        <p:nvSpPr>
          <p:cNvPr id="5" name="Text 3"/>
          <p:cNvSpPr txBox="1"/>
          <p:nvPr/>
        </p:nvSpPr>
        <p:spPr>
          <a:xfrm>
            <a:off x="411480" y="987552"/>
            <a:ext cx="5532120" cy="228600"/>
          </a:xfrm>
          <a:prstGeom prst="rect">
            <a:avLst/>
          </a:prstGeom>
          <a:noFill/>
          <a:ln/>
        </p:spPr>
        <p:txBody>
          <a:bodyPr wrap="square" lIns="0" tIns="0" rIns="0" bIns="0"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POTENTIAL CHALLENGES</a:t>
            </a:r>
            <a:endParaRPr lang="en-US" sz="900" dirty="0"/>
          </a:p>
        </p:txBody>
      </p:sp>
      <p:sp>
        <p:nvSpPr>
          <p:cNvPr id="6" name="Text 4"/>
          <p:cNvSpPr txBox="1"/>
          <p:nvPr/>
        </p:nvSpPr>
        <p:spPr>
          <a:xfrm>
            <a:off x="6263640" y="987552"/>
            <a:ext cx="5532120" cy="228600"/>
          </a:xfrm>
          <a:prstGeom prst="rect">
            <a:avLst/>
          </a:prstGeom>
          <a:noFill/>
          <a:ln/>
        </p:spPr>
        <p:txBody>
          <a:bodyPr wrap="square" lIns="0" tIns="0" rIns="0" bIns="0" rtlCol="0" anchor="ctr"/>
          <a:lstStyle/>
          <a:p>
            <a:pPr indent="0" marL="0">
              <a:buNone/>
            </a:pPr>
            <a:r>
              <a:rPr lang="en-US" sz="900" b="1" dirty="0">
                <a:solidFill>
                  <a:srgbClr val="1F8A4C"/>
                </a:solidFill>
                <a:latin typeface="Calibri" pitchFamily="34" charset="0"/>
                <a:ea typeface="Calibri" pitchFamily="34" charset="-122"/>
                <a:cs typeface="Calibri" pitchFamily="34" charset="-120"/>
              </a:rPr>
              <a:t>HOW WE TACKLE THEM</a:t>
            </a:r>
            <a:endParaRPr lang="en-US" sz="900" dirty="0"/>
          </a:p>
        </p:txBody>
      </p:sp>
      <p:sp>
        <p:nvSpPr>
          <p:cNvPr id="7" name="Shape 5"/>
          <p:cNvSpPr/>
          <p:nvPr/>
        </p:nvSpPr>
        <p:spPr>
          <a:xfrm>
            <a:off x="411480" y="1243584"/>
            <a:ext cx="5532120" cy="758952"/>
          </a:xfrm>
          <a:prstGeom prst="roundRect">
            <a:avLst>
              <a:gd name="adj" fmla="val 9639"/>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8" name="Shape 6"/>
          <p:cNvSpPr/>
          <p:nvPr/>
        </p:nvSpPr>
        <p:spPr>
          <a:xfrm>
            <a:off x="521208" y="1399032"/>
            <a:ext cx="420624" cy="420624"/>
          </a:xfrm>
          <a:prstGeom prst="ellipse">
            <a:avLst/>
          </a:prstGeom>
          <a:solidFill>
            <a:srgbClr val="C0392B"/>
          </a:solidFill>
          <a:ln w="12700">
            <a:solidFill>
              <a:srgbClr val="C0392B"/>
            </a:solidFill>
            <a:prstDash val="solid"/>
          </a:ln>
        </p:spPr>
      </p:sp>
      <p:sp>
        <p:nvSpPr>
          <p:cNvPr id="9" name="Text 7"/>
          <p:cNvSpPr txBox="1"/>
          <p:nvPr/>
        </p:nvSpPr>
        <p:spPr>
          <a:xfrm>
            <a:off x="521208" y="1399032"/>
            <a:ext cx="420624" cy="420624"/>
          </a:xfrm>
          <a:prstGeom prst="rect">
            <a:avLst/>
          </a:prstGeom>
          <a:noFill/>
          <a:ln/>
        </p:spPr>
        <p:txBody>
          <a:bodyPr wrap="square" lIns="0" tIns="0" rIns="0" bIns="0" rtlCol="0" anchor="ctr"/>
          <a:lstStyle/>
          <a:p>
            <a:pPr algn="ctr" indent="0" marL="0">
              <a:buNone/>
            </a:pPr>
            <a:r>
              <a:rPr lang="en-US" sz="1300" dirty="0">
                <a:solidFill>
                  <a:srgbClr val="FFFFFF"/>
                </a:solidFill>
                <a:latin typeface="Segoe UI Emoji" pitchFamily="34" charset="0"/>
                <a:ea typeface="Segoe UI Emoji" pitchFamily="34" charset="-122"/>
                <a:cs typeface="Segoe UI Emoji" pitchFamily="34" charset="-120"/>
              </a:rPr>
              <a:t>👥</a:t>
            </a:r>
            <a:endParaRPr lang="en-US" sz="1300" dirty="0"/>
          </a:p>
        </p:txBody>
      </p:sp>
      <p:sp>
        <p:nvSpPr>
          <p:cNvPr id="10" name="Text 8"/>
          <p:cNvSpPr txBox="1"/>
          <p:nvPr/>
        </p:nvSpPr>
        <p:spPr>
          <a:xfrm>
            <a:off x="1051560" y="1298448"/>
            <a:ext cx="4782312" cy="649224"/>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False identity merges</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One character separates “Ramesh Yadav” from “Ramesh Yadava”; a naive match fuses two people and taints every downstream finding.</a:t>
            </a:r>
            <a:endParaRPr lang="en-US" sz="1100" dirty="0"/>
          </a:p>
        </p:txBody>
      </p:sp>
      <p:sp>
        <p:nvSpPr>
          <p:cNvPr id="11" name="Shape 9"/>
          <p:cNvSpPr/>
          <p:nvPr/>
        </p:nvSpPr>
        <p:spPr>
          <a:xfrm>
            <a:off x="6263640" y="1243584"/>
            <a:ext cx="5532120" cy="758952"/>
          </a:xfrm>
          <a:prstGeom prst="roundRect">
            <a:avLst>
              <a:gd name="adj" fmla="val 9639"/>
            </a:avLst>
          </a:prstGeom>
          <a:solidFill>
            <a:srgbClr val="E6F4EA"/>
          </a:solidFill>
          <a:ln w="12700">
            <a:solidFill>
              <a:srgbClr val="E6F4EA"/>
            </a:solidFill>
            <a:prstDash val="solid"/>
          </a:ln>
          <a:effectLst>
            <a:outerShdw sx="100000" sy="100000" kx="0" ky="0" algn="bl" rotWithShape="0" blurRad="50800" dist="12700" dir="5400000">
              <a:srgbClr val="000000">
                <a:alpha val="12000"/>
              </a:srgbClr>
            </a:outerShdw>
          </a:effectLst>
        </p:spPr>
      </p:sp>
      <p:sp>
        <p:nvSpPr>
          <p:cNvPr id="12" name="Shape 10"/>
          <p:cNvSpPr/>
          <p:nvPr/>
        </p:nvSpPr>
        <p:spPr>
          <a:xfrm>
            <a:off x="6373368" y="1399032"/>
            <a:ext cx="420624" cy="420624"/>
          </a:xfrm>
          <a:prstGeom prst="ellipse">
            <a:avLst/>
          </a:prstGeom>
          <a:solidFill>
            <a:srgbClr val="1F8A4C"/>
          </a:solidFill>
          <a:ln w="12700">
            <a:solidFill>
              <a:srgbClr val="1F8A4C"/>
            </a:solidFill>
            <a:prstDash val="solid"/>
          </a:ln>
        </p:spPr>
      </p:sp>
      <p:sp>
        <p:nvSpPr>
          <p:cNvPr id="13" name="Text 11"/>
          <p:cNvSpPr txBox="1"/>
          <p:nvPr/>
        </p:nvSpPr>
        <p:spPr>
          <a:xfrm>
            <a:off x="6373368" y="1399032"/>
            <a:ext cx="420624" cy="420624"/>
          </a:xfrm>
          <a:prstGeom prst="rect">
            <a:avLst/>
          </a:prstGeom>
          <a:noFill/>
          <a:ln/>
        </p:spPr>
        <p:txBody>
          <a:bodyPr wrap="square" lIns="0" tIns="0" rIns="0" bIns="0" rtlCol="0" anchor="ctr"/>
          <a:lstStyle/>
          <a:p>
            <a:pPr algn="ctr" indent="0" marL="0">
              <a:buNone/>
            </a:pPr>
            <a:r>
              <a:rPr lang="en-US" sz="1300" dirty="0">
                <a:solidFill>
                  <a:srgbClr val="FFFFFF"/>
                </a:solidFill>
                <a:latin typeface="Segoe UI Emoji" pitchFamily="34" charset="0"/>
                <a:ea typeface="Segoe UI Emoji" pitchFamily="34" charset="-122"/>
                <a:cs typeface="Segoe UI Emoji" pitchFamily="34" charset="-120"/>
              </a:rPr>
              <a:t>✔</a:t>
            </a:r>
            <a:endParaRPr lang="en-US" sz="1300" dirty="0"/>
          </a:p>
        </p:txBody>
      </p:sp>
      <p:sp>
        <p:nvSpPr>
          <p:cNvPr id="14" name="Text 12"/>
          <p:cNvSpPr txBox="1"/>
          <p:nvPr/>
        </p:nvSpPr>
        <p:spPr>
          <a:xfrm>
            <a:off x="6903720" y="1298448"/>
            <a:ext cx="4782312" cy="649224"/>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Identifier-weighted resolution</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Names alone cannot reach LIKELY; conflicting phone/account apply −35; the look-alike scores 12 and stays separate. Auto-merged = 0, asserted by tests; a person confirms each match.</a:t>
            </a:r>
            <a:endParaRPr lang="en-US" sz="1100" dirty="0"/>
          </a:p>
        </p:txBody>
      </p:sp>
      <p:sp>
        <p:nvSpPr>
          <p:cNvPr id="15" name="Shape 13"/>
          <p:cNvSpPr/>
          <p:nvPr/>
        </p:nvSpPr>
        <p:spPr>
          <a:xfrm>
            <a:off x="6035040" y="1499616"/>
            <a:ext cx="182880" cy="228600"/>
          </a:xfrm>
          <a:prstGeom prst="rightArrow">
            <a:avLst/>
          </a:prstGeom>
          <a:solidFill>
            <a:srgbClr val="D0D7DE"/>
          </a:solidFill>
          <a:ln w="12700">
            <a:solidFill>
              <a:srgbClr val="D0D7DE"/>
            </a:solidFill>
            <a:prstDash val="solid"/>
          </a:ln>
        </p:spPr>
      </p:sp>
      <p:sp>
        <p:nvSpPr>
          <p:cNvPr id="16" name="Shape 14"/>
          <p:cNvSpPr/>
          <p:nvPr/>
        </p:nvSpPr>
        <p:spPr>
          <a:xfrm>
            <a:off x="411480" y="2093976"/>
            <a:ext cx="5532120" cy="758952"/>
          </a:xfrm>
          <a:prstGeom prst="roundRect">
            <a:avLst>
              <a:gd name="adj" fmla="val 9639"/>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17" name="Shape 15"/>
          <p:cNvSpPr/>
          <p:nvPr/>
        </p:nvSpPr>
        <p:spPr>
          <a:xfrm>
            <a:off x="521208" y="2249424"/>
            <a:ext cx="420624" cy="420624"/>
          </a:xfrm>
          <a:prstGeom prst="ellipse">
            <a:avLst/>
          </a:prstGeom>
          <a:solidFill>
            <a:srgbClr val="C0392B"/>
          </a:solidFill>
          <a:ln w="12700">
            <a:solidFill>
              <a:srgbClr val="C0392B"/>
            </a:solidFill>
            <a:prstDash val="solid"/>
          </a:ln>
        </p:spPr>
      </p:sp>
      <p:sp>
        <p:nvSpPr>
          <p:cNvPr id="18" name="Text 16"/>
          <p:cNvSpPr txBox="1"/>
          <p:nvPr/>
        </p:nvSpPr>
        <p:spPr>
          <a:xfrm>
            <a:off x="521208" y="2249424"/>
            <a:ext cx="420624" cy="420624"/>
          </a:xfrm>
          <a:prstGeom prst="rect">
            <a:avLst/>
          </a:prstGeom>
          <a:noFill/>
          <a:ln/>
        </p:spPr>
        <p:txBody>
          <a:bodyPr wrap="square" lIns="0" tIns="0" rIns="0" bIns="0" rtlCol="0" anchor="ctr"/>
          <a:lstStyle/>
          <a:p>
            <a:pPr algn="ctr" indent="0" marL="0">
              <a:buNone/>
            </a:pPr>
            <a:r>
              <a:rPr lang="en-US" sz="1300" dirty="0">
                <a:solidFill>
                  <a:srgbClr val="FFFFFF"/>
                </a:solidFill>
                <a:latin typeface="Segoe UI Emoji" pitchFamily="34" charset="0"/>
                <a:ea typeface="Segoe UI Emoji" pitchFamily="34" charset="-122"/>
                <a:cs typeface="Segoe UI Emoji" pitchFamily="34" charset="-120"/>
              </a:rPr>
              <a:t>📣</a:t>
            </a:r>
            <a:endParaRPr lang="en-US" sz="1300" dirty="0"/>
          </a:p>
        </p:txBody>
      </p:sp>
      <p:sp>
        <p:nvSpPr>
          <p:cNvPr id="19" name="Text 17"/>
          <p:cNvSpPr txBox="1"/>
          <p:nvPr/>
        </p:nvSpPr>
        <p:spPr>
          <a:xfrm>
            <a:off x="1051560" y="2148840"/>
            <a:ext cx="4782312" cy="649224"/>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Overclaiming and false positives</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“Kingpin”, “burner”, “prime suspect” and a 100% badge turn correlation into accusation.</a:t>
            </a:r>
            <a:endParaRPr lang="en-US" sz="1100" dirty="0"/>
          </a:p>
        </p:txBody>
      </p:sp>
      <p:sp>
        <p:nvSpPr>
          <p:cNvPr id="20" name="Shape 18"/>
          <p:cNvSpPr/>
          <p:nvPr/>
        </p:nvSpPr>
        <p:spPr>
          <a:xfrm>
            <a:off x="6263640" y="2093976"/>
            <a:ext cx="5532120" cy="758952"/>
          </a:xfrm>
          <a:prstGeom prst="roundRect">
            <a:avLst>
              <a:gd name="adj" fmla="val 9639"/>
            </a:avLst>
          </a:prstGeom>
          <a:solidFill>
            <a:srgbClr val="E6F4EA"/>
          </a:solidFill>
          <a:ln w="12700">
            <a:solidFill>
              <a:srgbClr val="E6F4EA"/>
            </a:solidFill>
            <a:prstDash val="solid"/>
          </a:ln>
          <a:effectLst>
            <a:outerShdw sx="100000" sy="100000" kx="0" ky="0" algn="bl" rotWithShape="0" blurRad="50800" dist="12700" dir="5400000">
              <a:srgbClr val="000000">
                <a:alpha val="12000"/>
              </a:srgbClr>
            </a:outerShdw>
          </a:effectLst>
        </p:spPr>
      </p:sp>
      <p:sp>
        <p:nvSpPr>
          <p:cNvPr id="21" name="Shape 19"/>
          <p:cNvSpPr/>
          <p:nvPr/>
        </p:nvSpPr>
        <p:spPr>
          <a:xfrm>
            <a:off x="6373368" y="2249424"/>
            <a:ext cx="420624" cy="420624"/>
          </a:xfrm>
          <a:prstGeom prst="ellipse">
            <a:avLst/>
          </a:prstGeom>
          <a:solidFill>
            <a:srgbClr val="1F8A4C"/>
          </a:solidFill>
          <a:ln w="12700">
            <a:solidFill>
              <a:srgbClr val="1F8A4C"/>
            </a:solidFill>
            <a:prstDash val="solid"/>
          </a:ln>
        </p:spPr>
      </p:sp>
      <p:sp>
        <p:nvSpPr>
          <p:cNvPr id="22" name="Text 20"/>
          <p:cNvSpPr txBox="1"/>
          <p:nvPr/>
        </p:nvSpPr>
        <p:spPr>
          <a:xfrm>
            <a:off x="6373368" y="2249424"/>
            <a:ext cx="420624" cy="420624"/>
          </a:xfrm>
          <a:prstGeom prst="rect">
            <a:avLst/>
          </a:prstGeom>
          <a:noFill/>
          <a:ln/>
        </p:spPr>
        <p:txBody>
          <a:bodyPr wrap="square" lIns="0" tIns="0" rIns="0" bIns="0" rtlCol="0" anchor="ctr"/>
          <a:lstStyle/>
          <a:p>
            <a:pPr algn="ctr" indent="0" marL="0">
              <a:buNone/>
            </a:pPr>
            <a:r>
              <a:rPr lang="en-US" sz="1300" dirty="0">
                <a:solidFill>
                  <a:srgbClr val="FFFFFF"/>
                </a:solidFill>
                <a:latin typeface="Segoe UI Emoji" pitchFamily="34" charset="0"/>
                <a:ea typeface="Segoe UI Emoji" pitchFamily="34" charset="-122"/>
                <a:cs typeface="Segoe UI Emoji" pitchFamily="34" charset="-120"/>
              </a:rPr>
              <a:t>✔</a:t>
            </a:r>
            <a:endParaRPr lang="en-US" sz="1300" dirty="0"/>
          </a:p>
        </p:txBody>
      </p:sp>
      <p:sp>
        <p:nvSpPr>
          <p:cNvPr id="23" name="Text 21"/>
          <p:cNvSpPr txBox="1"/>
          <p:nvPr/>
        </p:nvSpPr>
        <p:spPr>
          <a:xfrm>
            <a:off x="6903720" y="2148840"/>
            <a:ext cx="4782312" cy="649224"/>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Approved terminology, enforced</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Potential Network Controller, Unresolved Number, Investigative Lead. Confidence capped at 97; every finding carries the human-verification notice; tests scan the API and the UI for banned terms.</a:t>
            </a:r>
            <a:endParaRPr lang="en-US" sz="1100" dirty="0"/>
          </a:p>
        </p:txBody>
      </p:sp>
      <p:sp>
        <p:nvSpPr>
          <p:cNvPr id="24" name="Shape 22"/>
          <p:cNvSpPr/>
          <p:nvPr/>
        </p:nvSpPr>
        <p:spPr>
          <a:xfrm>
            <a:off x="6035040" y="2350008"/>
            <a:ext cx="182880" cy="228600"/>
          </a:xfrm>
          <a:prstGeom prst="rightArrow">
            <a:avLst/>
          </a:prstGeom>
          <a:solidFill>
            <a:srgbClr val="D0D7DE"/>
          </a:solidFill>
          <a:ln w="12700">
            <a:solidFill>
              <a:srgbClr val="D0D7DE"/>
            </a:solidFill>
            <a:prstDash val="solid"/>
          </a:ln>
        </p:spPr>
      </p:sp>
      <p:sp>
        <p:nvSpPr>
          <p:cNvPr id="25" name="Shape 23"/>
          <p:cNvSpPr/>
          <p:nvPr/>
        </p:nvSpPr>
        <p:spPr>
          <a:xfrm>
            <a:off x="411480" y="2944368"/>
            <a:ext cx="5532120" cy="758952"/>
          </a:xfrm>
          <a:prstGeom prst="roundRect">
            <a:avLst>
              <a:gd name="adj" fmla="val 9639"/>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26" name="Shape 24"/>
          <p:cNvSpPr/>
          <p:nvPr/>
        </p:nvSpPr>
        <p:spPr>
          <a:xfrm>
            <a:off x="521208" y="3099816"/>
            <a:ext cx="420624" cy="420624"/>
          </a:xfrm>
          <a:prstGeom prst="ellipse">
            <a:avLst/>
          </a:prstGeom>
          <a:solidFill>
            <a:srgbClr val="B7791F"/>
          </a:solidFill>
          <a:ln w="12700">
            <a:solidFill>
              <a:srgbClr val="B7791F"/>
            </a:solidFill>
            <a:prstDash val="solid"/>
          </a:ln>
        </p:spPr>
      </p:sp>
      <p:sp>
        <p:nvSpPr>
          <p:cNvPr id="27" name="Text 25"/>
          <p:cNvSpPr txBox="1"/>
          <p:nvPr/>
        </p:nvSpPr>
        <p:spPr>
          <a:xfrm>
            <a:off x="521208" y="3099816"/>
            <a:ext cx="420624" cy="420624"/>
          </a:xfrm>
          <a:prstGeom prst="rect">
            <a:avLst/>
          </a:prstGeom>
          <a:noFill/>
          <a:ln/>
        </p:spPr>
        <p:txBody>
          <a:bodyPr wrap="square" lIns="0" tIns="0" rIns="0" bIns="0" rtlCol="0" anchor="ctr"/>
          <a:lstStyle/>
          <a:p>
            <a:pPr algn="ctr" indent="0" marL="0">
              <a:buNone/>
            </a:pPr>
            <a:r>
              <a:rPr lang="en-US" sz="1300" dirty="0">
                <a:solidFill>
                  <a:srgbClr val="FFFFFF"/>
                </a:solidFill>
                <a:latin typeface="Segoe UI Emoji" pitchFamily="34" charset="0"/>
                <a:ea typeface="Segoe UI Emoji" pitchFamily="34" charset="-122"/>
                <a:cs typeface="Segoe UI Emoji" pitchFamily="34" charset="-120"/>
              </a:rPr>
              <a:t>🧾</a:t>
            </a:r>
            <a:endParaRPr lang="en-US" sz="1300" dirty="0"/>
          </a:p>
        </p:txBody>
      </p:sp>
      <p:sp>
        <p:nvSpPr>
          <p:cNvPr id="28" name="Text 26"/>
          <p:cNvSpPr txBox="1"/>
          <p:nvPr/>
        </p:nvSpPr>
        <p:spPr>
          <a:xfrm>
            <a:off x="1051560" y="2999232"/>
            <a:ext cx="4782312" cy="649224"/>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Messy, malformed input</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Real feeds carry bad dates, non-numeric amounts, missing ids, duplicates and a phone registered to two holders.</a:t>
            </a:r>
            <a:endParaRPr lang="en-US" sz="1100" dirty="0"/>
          </a:p>
        </p:txBody>
      </p:sp>
      <p:sp>
        <p:nvSpPr>
          <p:cNvPr id="29" name="Shape 27"/>
          <p:cNvSpPr/>
          <p:nvPr/>
        </p:nvSpPr>
        <p:spPr>
          <a:xfrm>
            <a:off x="6263640" y="2944368"/>
            <a:ext cx="5532120" cy="758952"/>
          </a:xfrm>
          <a:prstGeom prst="roundRect">
            <a:avLst>
              <a:gd name="adj" fmla="val 9639"/>
            </a:avLst>
          </a:prstGeom>
          <a:solidFill>
            <a:srgbClr val="E6F4EA"/>
          </a:solidFill>
          <a:ln w="12700">
            <a:solidFill>
              <a:srgbClr val="E6F4EA"/>
            </a:solidFill>
            <a:prstDash val="solid"/>
          </a:ln>
          <a:effectLst>
            <a:outerShdw sx="100000" sy="100000" kx="0" ky="0" algn="bl" rotWithShape="0" blurRad="50800" dist="12700" dir="5400000">
              <a:srgbClr val="000000">
                <a:alpha val="12000"/>
              </a:srgbClr>
            </a:outerShdw>
          </a:effectLst>
        </p:spPr>
      </p:sp>
      <p:sp>
        <p:nvSpPr>
          <p:cNvPr id="30" name="Shape 28"/>
          <p:cNvSpPr/>
          <p:nvPr/>
        </p:nvSpPr>
        <p:spPr>
          <a:xfrm>
            <a:off x="6373368" y="3099816"/>
            <a:ext cx="420624" cy="420624"/>
          </a:xfrm>
          <a:prstGeom prst="ellipse">
            <a:avLst/>
          </a:prstGeom>
          <a:solidFill>
            <a:srgbClr val="1F8A4C"/>
          </a:solidFill>
          <a:ln w="12700">
            <a:solidFill>
              <a:srgbClr val="1F8A4C"/>
            </a:solidFill>
            <a:prstDash val="solid"/>
          </a:ln>
        </p:spPr>
      </p:sp>
      <p:sp>
        <p:nvSpPr>
          <p:cNvPr id="31" name="Text 29"/>
          <p:cNvSpPr txBox="1"/>
          <p:nvPr/>
        </p:nvSpPr>
        <p:spPr>
          <a:xfrm>
            <a:off x="6373368" y="3099816"/>
            <a:ext cx="420624" cy="420624"/>
          </a:xfrm>
          <a:prstGeom prst="rect">
            <a:avLst/>
          </a:prstGeom>
          <a:noFill/>
          <a:ln/>
        </p:spPr>
        <p:txBody>
          <a:bodyPr wrap="square" lIns="0" tIns="0" rIns="0" bIns="0" rtlCol="0" anchor="ctr"/>
          <a:lstStyle/>
          <a:p>
            <a:pPr algn="ctr" indent="0" marL="0">
              <a:buNone/>
            </a:pPr>
            <a:r>
              <a:rPr lang="en-US" sz="1300" dirty="0">
                <a:solidFill>
                  <a:srgbClr val="FFFFFF"/>
                </a:solidFill>
                <a:latin typeface="Segoe UI Emoji" pitchFamily="34" charset="0"/>
                <a:ea typeface="Segoe UI Emoji" pitchFamily="34" charset="-122"/>
                <a:cs typeface="Segoe UI Emoji" pitchFamily="34" charset="-120"/>
              </a:rPr>
              <a:t>✔</a:t>
            </a:r>
            <a:endParaRPr lang="en-US" sz="1300" dirty="0"/>
          </a:p>
        </p:txBody>
      </p:sp>
      <p:sp>
        <p:nvSpPr>
          <p:cNvPr id="32" name="Text 30"/>
          <p:cNvSpPr txBox="1"/>
          <p:nvPr/>
        </p:nvSpPr>
        <p:spPr>
          <a:xfrm>
            <a:off x="6903720" y="2999232"/>
            <a:ext cx="4782312" cy="649224"/>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Validate, hold, never correct</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INVALID rows are held and shown, optional gaps stay null, duplicates and holder conflicts are flagged for review. The preview is the same extractor the board uses.</a:t>
            </a:r>
            <a:endParaRPr lang="en-US" sz="1100" dirty="0"/>
          </a:p>
        </p:txBody>
      </p:sp>
      <p:sp>
        <p:nvSpPr>
          <p:cNvPr id="33" name="Shape 31"/>
          <p:cNvSpPr/>
          <p:nvPr/>
        </p:nvSpPr>
        <p:spPr>
          <a:xfrm>
            <a:off x="6035040" y="3200400"/>
            <a:ext cx="182880" cy="228600"/>
          </a:xfrm>
          <a:prstGeom prst="rightArrow">
            <a:avLst/>
          </a:prstGeom>
          <a:solidFill>
            <a:srgbClr val="D0D7DE"/>
          </a:solidFill>
          <a:ln w="12700">
            <a:solidFill>
              <a:srgbClr val="D0D7DE"/>
            </a:solidFill>
            <a:prstDash val="solid"/>
          </a:ln>
        </p:spPr>
      </p:sp>
      <p:sp>
        <p:nvSpPr>
          <p:cNvPr id="34" name="Shape 32"/>
          <p:cNvSpPr/>
          <p:nvPr/>
        </p:nvSpPr>
        <p:spPr>
          <a:xfrm>
            <a:off x="411480" y="3794760"/>
            <a:ext cx="5532120" cy="758952"/>
          </a:xfrm>
          <a:prstGeom prst="roundRect">
            <a:avLst>
              <a:gd name="adj" fmla="val 9639"/>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35" name="Shape 33"/>
          <p:cNvSpPr/>
          <p:nvPr/>
        </p:nvSpPr>
        <p:spPr>
          <a:xfrm>
            <a:off x="521208" y="3950208"/>
            <a:ext cx="420624" cy="420624"/>
          </a:xfrm>
          <a:prstGeom prst="ellipse">
            <a:avLst/>
          </a:prstGeom>
          <a:solidFill>
            <a:srgbClr val="6F42C1"/>
          </a:solidFill>
          <a:ln w="12700">
            <a:solidFill>
              <a:srgbClr val="6F42C1"/>
            </a:solidFill>
            <a:prstDash val="solid"/>
          </a:ln>
        </p:spPr>
      </p:sp>
      <p:sp>
        <p:nvSpPr>
          <p:cNvPr id="36" name="Text 34"/>
          <p:cNvSpPr txBox="1"/>
          <p:nvPr/>
        </p:nvSpPr>
        <p:spPr>
          <a:xfrm>
            <a:off x="521208" y="3950208"/>
            <a:ext cx="420624" cy="420624"/>
          </a:xfrm>
          <a:prstGeom prst="rect">
            <a:avLst/>
          </a:prstGeom>
          <a:noFill/>
          <a:ln/>
        </p:spPr>
        <p:txBody>
          <a:bodyPr wrap="square" lIns="0" tIns="0" rIns="0" bIns="0" rtlCol="0" anchor="ctr"/>
          <a:lstStyle/>
          <a:p>
            <a:pPr algn="ctr" indent="0" marL="0">
              <a:buNone/>
            </a:pPr>
            <a:r>
              <a:rPr lang="en-US" sz="1300" dirty="0">
                <a:solidFill>
                  <a:srgbClr val="FFFFFF"/>
                </a:solidFill>
                <a:latin typeface="Segoe UI Emoji" pitchFamily="34" charset="0"/>
                <a:ea typeface="Segoe UI Emoji" pitchFamily="34" charset="-122"/>
                <a:cs typeface="Segoe UI Emoji" pitchFamily="34" charset="-120"/>
              </a:rPr>
              <a:t>🛡</a:t>
            </a:r>
            <a:endParaRPr lang="en-US" sz="1300" dirty="0"/>
          </a:p>
        </p:txBody>
      </p:sp>
      <p:sp>
        <p:nvSpPr>
          <p:cNvPr id="37" name="Text 35"/>
          <p:cNvSpPr txBox="1"/>
          <p:nvPr/>
        </p:nvSpPr>
        <p:spPr>
          <a:xfrm>
            <a:off x="1051560" y="3849624"/>
            <a:ext cx="4782312" cy="649224"/>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Misuse and privacy (DPDP Act 2023)</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A contact-mapping tool without accountability can surveil anyone, and nobody would know.</a:t>
            </a:r>
            <a:endParaRPr lang="en-US" sz="1100" dirty="0"/>
          </a:p>
        </p:txBody>
      </p:sp>
      <p:sp>
        <p:nvSpPr>
          <p:cNvPr id="38" name="Shape 36"/>
          <p:cNvSpPr/>
          <p:nvPr/>
        </p:nvSpPr>
        <p:spPr>
          <a:xfrm>
            <a:off x="6263640" y="3794760"/>
            <a:ext cx="5532120" cy="758952"/>
          </a:xfrm>
          <a:prstGeom prst="roundRect">
            <a:avLst>
              <a:gd name="adj" fmla="val 9639"/>
            </a:avLst>
          </a:prstGeom>
          <a:solidFill>
            <a:srgbClr val="E6F4EA"/>
          </a:solidFill>
          <a:ln w="12700">
            <a:solidFill>
              <a:srgbClr val="E6F4EA"/>
            </a:solidFill>
            <a:prstDash val="solid"/>
          </a:ln>
          <a:effectLst>
            <a:outerShdw sx="100000" sy="100000" kx="0" ky="0" algn="bl" rotWithShape="0" blurRad="50800" dist="12700" dir="5400000">
              <a:srgbClr val="000000">
                <a:alpha val="12000"/>
              </a:srgbClr>
            </a:outerShdw>
          </a:effectLst>
        </p:spPr>
      </p:sp>
      <p:sp>
        <p:nvSpPr>
          <p:cNvPr id="39" name="Shape 37"/>
          <p:cNvSpPr/>
          <p:nvPr/>
        </p:nvSpPr>
        <p:spPr>
          <a:xfrm>
            <a:off x="6373368" y="3950208"/>
            <a:ext cx="420624" cy="420624"/>
          </a:xfrm>
          <a:prstGeom prst="ellipse">
            <a:avLst/>
          </a:prstGeom>
          <a:solidFill>
            <a:srgbClr val="1F8A4C"/>
          </a:solidFill>
          <a:ln w="12700">
            <a:solidFill>
              <a:srgbClr val="1F8A4C"/>
            </a:solidFill>
            <a:prstDash val="solid"/>
          </a:ln>
        </p:spPr>
      </p:sp>
      <p:sp>
        <p:nvSpPr>
          <p:cNvPr id="40" name="Text 38"/>
          <p:cNvSpPr txBox="1"/>
          <p:nvPr/>
        </p:nvSpPr>
        <p:spPr>
          <a:xfrm>
            <a:off x="6373368" y="3950208"/>
            <a:ext cx="420624" cy="420624"/>
          </a:xfrm>
          <a:prstGeom prst="rect">
            <a:avLst/>
          </a:prstGeom>
          <a:noFill/>
          <a:ln/>
        </p:spPr>
        <p:txBody>
          <a:bodyPr wrap="square" lIns="0" tIns="0" rIns="0" bIns="0" rtlCol="0" anchor="ctr"/>
          <a:lstStyle/>
          <a:p>
            <a:pPr algn="ctr" indent="0" marL="0">
              <a:buNone/>
            </a:pPr>
            <a:r>
              <a:rPr lang="en-US" sz="1300" dirty="0">
                <a:solidFill>
                  <a:srgbClr val="FFFFFF"/>
                </a:solidFill>
                <a:latin typeface="Segoe UI Emoji" pitchFamily="34" charset="0"/>
                <a:ea typeface="Segoe UI Emoji" pitchFamily="34" charset="-122"/>
                <a:cs typeface="Segoe UI Emoji" pitchFamily="34" charset="-120"/>
              </a:rPr>
              <a:t>✔</a:t>
            </a:r>
            <a:endParaRPr lang="en-US" sz="1300" dirty="0"/>
          </a:p>
        </p:txBody>
      </p:sp>
      <p:sp>
        <p:nvSpPr>
          <p:cNvPr id="41" name="Text 39"/>
          <p:cNvSpPr txBox="1"/>
          <p:nvPr/>
        </p:nvSpPr>
        <p:spPr>
          <a:xfrm>
            <a:off x="6903720" y="3849624"/>
            <a:ext cx="4782312" cy="649224"/>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Accountability by construction</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Each request is a SHA-256 block before it is served; call data is metadata only; no outbound calls; a live tamper test shows the chain break and recover.</a:t>
            </a:r>
            <a:endParaRPr lang="en-US" sz="1100" dirty="0"/>
          </a:p>
        </p:txBody>
      </p:sp>
      <p:sp>
        <p:nvSpPr>
          <p:cNvPr id="42" name="Shape 40"/>
          <p:cNvSpPr/>
          <p:nvPr/>
        </p:nvSpPr>
        <p:spPr>
          <a:xfrm>
            <a:off x="6035040" y="4050792"/>
            <a:ext cx="182880" cy="228600"/>
          </a:xfrm>
          <a:prstGeom prst="rightArrow">
            <a:avLst/>
          </a:prstGeom>
          <a:solidFill>
            <a:srgbClr val="D0D7DE"/>
          </a:solidFill>
          <a:ln w="12700">
            <a:solidFill>
              <a:srgbClr val="D0D7DE"/>
            </a:solidFill>
            <a:prstDash val="solid"/>
          </a:ln>
        </p:spPr>
      </p:sp>
      <p:sp>
        <p:nvSpPr>
          <p:cNvPr id="43" name="Shape 41"/>
          <p:cNvSpPr/>
          <p:nvPr/>
        </p:nvSpPr>
        <p:spPr>
          <a:xfrm>
            <a:off x="411480" y="4645152"/>
            <a:ext cx="5532120" cy="758952"/>
          </a:xfrm>
          <a:prstGeom prst="roundRect">
            <a:avLst>
              <a:gd name="adj" fmla="val 9639"/>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44" name="Shape 42"/>
          <p:cNvSpPr/>
          <p:nvPr/>
        </p:nvSpPr>
        <p:spPr>
          <a:xfrm>
            <a:off x="521208" y="4800600"/>
            <a:ext cx="420624" cy="420624"/>
          </a:xfrm>
          <a:prstGeom prst="ellipse">
            <a:avLst/>
          </a:prstGeom>
          <a:solidFill>
            <a:srgbClr val="1F6FEB"/>
          </a:solidFill>
          <a:ln w="12700">
            <a:solidFill>
              <a:srgbClr val="1F6FEB"/>
            </a:solidFill>
            <a:prstDash val="solid"/>
          </a:ln>
        </p:spPr>
      </p:sp>
      <p:sp>
        <p:nvSpPr>
          <p:cNvPr id="45" name="Text 43"/>
          <p:cNvSpPr txBox="1"/>
          <p:nvPr/>
        </p:nvSpPr>
        <p:spPr>
          <a:xfrm>
            <a:off x="521208" y="4800600"/>
            <a:ext cx="420624" cy="420624"/>
          </a:xfrm>
          <a:prstGeom prst="rect">
            <a:avLst/>
          </a:prstGeom>
          <a:noFill/>
          <a:ln/>
        </p:spPr>
        <p:txBody>
          <a:bodyPr wrap="square" lIns="0" tIns="0" rIns="0" bIns="0" rtlCol="0" anchor="ctr"/>
          <a:lstStyle/>
          <a:p>
            <a:pPr algn="ctr" indent="0" marL="0">
              <a:buNone/>
            </a:pPr>
            <a:r>
              <a:rPr lang="en-US" sz="1300" dirty="0">
                <a:solidFill>
                  <a:srgbClr val="FFFFFF"/>
                </a:solidFill>
                <a:latin typeface="Segoe UI Emoji" pitchFamily="34" charset="0"/>
                <a:ea typeface="Segoe UI Emoji" pitchFamily="34" charset="-122"/>
                <a:cs typeface="Segoe UI Emoji" pitchFamily="34" charset="-120"/>
              </a:rPr>
              <a:t>↩</a:t>
            </a:r>
            <a:endParaRPr lang="en-US" sz="1300" dirty="0"/>
          </a:p>
        </p:txBody>
      </p:sp>
      <p:sp>
        <p:nvSpPr>
          <p:cNvPr id="46" name="Text 44"/>
          <p:cNvSpPr txBox="1"/>
          <p:nvPr/>
        </p:nvSpPr>
        <p:spPr>
          <a:xfrm>
            <a:off x="1051560" y="4700016"/>
            <a:ext cx="4782312" cy="649224"/>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Wrong data enters a case</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Rows from another case get pasted in; deleting them would renumber every later record and corrupt citations.</a:t>
            </a:r>
            <a:endParaRPr lang="en-US" sz="1100" dirty="0"/>
          </a:p>
        </p:txBody>
      </p:sp>
      <p:sp>
        <p:nvSpPr>
          <p:cNvPr id="47" name="Shape 45"/>
          <p:cNvSpPr/>
          <p:nvPr/>
        </p:nvSpPr>
        <p:spPr>
          <a:xfrm>
            <a:off x="6263640" y="4645152"/>
            <a:ext cx="5532120" cy="758952"/>
          </a:xfrm>
          <a:prstGeom prst="roundRect">
            <a:avLst>
              <a:gd name="adj" fmla="val 9639"/>
            </a:avLst>
          </a:prstGeom>
          <a:solidFill>
            <a:srgbClr val="E6F4EA"/>
          </a:solidFill>
          <a:ln w="12700">
            <a:solidFill>
              <a:srgbClr val="E6F4EA"/>
            </a:solidFill>
            <a:prstDash val="solid"/>
          </a:ln>
          <a:effectLst>
            <a:outerShdw sx="100000" sy="100000" kx="0" ky="0" algn="bl" rotWithShape="0" blurRad="50800" dist="12700" dir="5400000">
              <a:srgbClr val="000000">
                <a:alpha val="12000"/>
              </a:srgbClr>
            </a:outerShdw>
          </a:effectLst>
        </p:spPr>
      </p:sp>
      <p:sp>
        <p:nvSpPr>
          <p:cNvPr id="48" name="Shape 46"/>
          <p:cNvSpPr/>
          <p:nvPr/>
        </p:nvSpPr>
        <p:spPr>
          <a:xfrm>
            <a:off x="6373368" y="4800600"/>
            <a:ext cx="420624" cy="420624"/>
          </a:xfrm>
          <a:prstGeom prst="ellipse">
            <a:avLst/>
          </a:prstGeom>
          <a:solidFill>
            <a:srgbClr val="1F8A4C"/>
          </a:solidFill>
          <a:ln w="12700">
            <a:solidFill>
              <a:srgbClr val="1F8A4C"/>
            </a:solidFill>
            <a:prstDash val="solid"/>
          </a:ln>
        </p:spPr>
      </p:sp>
      <p:sp>
        <p:nvSpPr>
          <p:cNvPr id="49" name="Text 47"/>
          <p:cNvSpPr txBox="1"/>
          <p:nvPr/>
        </p:nvSpPr>
        <p:spPr>
          <a:xfrm>
            <a:off x="6373368" y="4800600"/>
            <a:ext cx="420624" cy="420624"/>
          </a:xfrm>
          <a:prstGeom prst="rect">
            <a:avLst/>
          </a:prstGeom>
          <a:noFill/>
          <a:ln/>
        </p:spPr>
        <p:txBody>
          <a:bodyPr wrap="square" lIns="0" tIns="0" rIns="0" bIns="0" rtlCol="0" anchor="ctr"/>
          <a:lstStyle/>
          <a:p>
            <a:pPr algn="ctr" indent="0" marL="0">
              <a:buNone/>
            </a:pPr>
            <a:r>
              <a:rPr lang="en-US" sz="1300" dirty="0">
                <a:solidFill>
                  <a:srgbClr val="FFFFFF"/>
                </a:solidFill>
                <a:latin typeface="Segoe UI Emoji" pitchFamily="34" charset="0"/>
                <a:ea typeface="Segoe UI Emoji" pitchFamily="34" charset="-122"/>
                <a:cs typeface="Segoe UI Emoji" pitchFamily="34" charset="-120"/>
              </a:rPr>
              <a:t>✔</a:t>
            </a:r>
            <a:endParaRPr lang="en-US" sz="1300" dirty="0"/>
          </a:p>
        </p:txBody>
      </p:sp>
      <p:sp>
        <p:nvSpPr>
          <p:cNvPr id="50" name="Text 48"/>
          <p:cNvSpPr txBox="1"/>
          <p:nvPr/>
        </p:nvSpPr>
        <p:spPr>
          <a:xfrm>
            <a:off x="6903720" y="4700016"/>
            <a:ext cx="4782312" cy="649224"/>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Audited, reversible retraction</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Batches are tombstoned with a mandatory reason; ids never shift; restore is one click; the shipped corpus is protected and a reset script exists.</a:t>
            </a:r>
            <a:endParaRPr lang="en-US" sz="1100" dirty="0"/>
          </a:p>
        </p:txBody>
      </p:sp>
      <p:sp>
        <p:nvSpPr>
          <p:cNvPr id="51" name="Shape 49"/>
          <p:cNvSpPr/>
          <p:nvPr/>
        </p:nvSpPr>
        <p:spPr>
          <a:xfrm>
            <a:off x="6035040" y="4901184"/>
            <a:ext cx="182880" cy="228600"/>
          </a:xfrm>
          <a:prstGeom prst="rightArrow">
            <a:avLst/>
          </a:prstGeom>
          <a:solidFill>
            <a:srgbClr val="D0D7DE"/>
          </a:solidFill>
          <a:ln w="12700">
            <a:solidFill>
              <a:srgbClr val="D0D7DE"/>
            </a:solidFill>
            <a:prstDash val="solid"/>
          </a:ln>
        </p:spPr>
      </p:sp>
      <p:sp>
        <p:nvSpPr>
          <p:cNvPr id="52" name="Shape 50"/>
          <p:cNvSpPr/>
          <p:nvPr/>
        </p:nvSpPr>
        <p:spPr>
          <a:xfrm>
            <a:off x="411480" y="5495544"/>
            <a:ext cx="5532120" cy="758952"/>
          </a:xfrm>
          <a:prstGeom prst="roundRect">
            <a:avLst>
              <a:gd name="adj" fmla="val 9639"/>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53" name="Shape 51"/>
          <p:cNvSpPr/>
          <p:nvPr/>
        </p:nvSpPr>
        <p:spPr>
          <a:xfrm>
            <a:off x="521208" y="5650992"/>
            <a:ext cx="420624" cy="420624"/>
          </a:xfrm>
          <a:prstGeom prst="ellipse">
            <a:avLst/>
          </a:prstGeom>
          <a:solidFill>
            <a:srgbClr val="0B7285"/>
          </a:solidFill>
          <a:ln w="12700">
            <a:solidFill>
              <a:srgbClr val="0B7285"/>
            </a:solidFill>
            <a:prstDash val="solid"/>
          </a:ln>
        </p:spPr>
      </p:sp>
      <p:sp>
        <p:nvSpPr>
          <p:cNvPr id="54" name="Text 52"/>
          <p:cNvSpPr txBox="1"/>
          <p:nvPr/>
        </p:nvSpPr>
        <p:spPr>
          <a:xfrm>
            <a:off x="521208" y="5650992"/>
            <a:ext cx="420624" cy="420624"/>
          </a:xfrm>
          <a:prstGeom prst="rect">
            <a:avLst/>
          </a:prstGeom>
          <a:noFill/>
          <a:ln/>
        </p:spPr>
        <p:txBody>
          <a:bodyPr wrap="square" lIns="0" tIns="0" rIns="0" bIns="0" rtlCol="0" anchor="ctr"/>
          <a:lstStyle/>
          <a:p>
            <a:pPr algn="ctr" indent="0" marL="0">
              <a:buNone/>
            </a:pPr>
            <a:r>
              <a:rPr lang="en-US" sz="1300" dirty="0">
                <a:solidFill>
                  <a:srgbClr val="FFFFFF"/>
                </a:solidFill>
                <a:latin typeface="Segoe UI Emoji" pitchFamily="34" charset="0"/>
                <a:ea typeface="Segoe UI Emoji" pitchFamily="34" charset="-122"/>
                <a:cs typeface="Segoe UI Emoji" pitchFamily="34" charset="-120"/>
              </a:rPr>
              <a:t>📈</a:t>
            </a:r>
            <a:endParaRPr lang="en-US" sz="1300" dirty="0"/>
          </a:p>
        </p:txBody>
      </p:sp>
      <p:sp>
        <p:nvSpPr>
          <p:cNvPr id="55" name="Text 53"/>
          <p:cNvSpPr txBox="1"/>
          <p:nvPr/>
        </p:nvSpPr>
        <p:spPr>
          <a:xfrm>
            <a:off x="1051560" y="5550408"/>
            <a:ext cx="4782312" cy="649224"/>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Scale and language</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Regex extraction and an in-memory graph will not carry 12 languages or millions of edges.</a:t>
            </a:r>
            <a:endParaRPr lang="en-US" sz="1100" dirty="0"/>
          </a:p>
        </p:txBody>
      </p:sp>
      <p:sp>
        <p:nvSpPr>
          <p:cNvPr id="56" name="Shape 54"/>
          <p:cNvSpPr/>
          <p:nvPr/>
        </p:nvSpPr>
        <p:spPr>
          <a:xfrm>
            <a:off x="6263640" y="5495544"/>
            <a:ext cx="5532120" cy="758952"/>
          </a:xfrm>
          <a:prstGeom prst="roundRect">
            <a:avLst>
              <a:gd name="adj" fmla="val 9639"/>
            </a:avLst>
          </a:prstGeom>
          <a:solidFill>
            <a:srgbClr val="E6F4EA"/>
          </a:solidFill>
          <a:ln w="12700">
            <a:solidFill>
              <a:srgbClr val="E6F4EA"/>
            </a:solidFill>
            <a:prstDash val="solid"/>
          </a:ln>
          <a:effectLst>
            <a:outerShdw sx="100000" sy="100000" kx="0" ky="0" algn="bl" rotWithShape="0" blurRad="50800" dist="12700" dir="5400000">
              <a:srgbClr val="000000">
                <a:alpha val="12000"/>
              </a:srgbClr>
            </a:outerShdw>
          </a:effectLst>
        </p:spPr>
      </p:sp>
      <p:sp>
        <p:nvSpPr>
          <p:cNvPr id="57" name="Shape 55"/>
          <p:cNvSpPr/>
          <p:nvPr/>
        </p:nvSpPr>
        <p:spPr>
          <a:xfrm>
            <a:off x="6373368" y="5650992"/>
            <a:ext cx="420624" cy="420624"/>
          </a:xfrm>
          <a:prstGeom prst="ellipse">
            <a:avLst/>
          </a:prstGeom>
          <a:solidFill>
            <a:srgbClr val="1F8A4C"/>
          </a:solidFill>
          <a:ln w="12700">
            <a:solidFill>
              <a:srgbClr val="1F8A4C"/>
            </a:solidFill>
            <a:prstDash val="solid"/>
          </a:ln>
        </p:spPr>
      </p:sp>
      <p:sp>
        <p:nvSpPr>
          <p:cNvPr id="58" name="Text 56"/>
          <p:cNvSpPr txBox="1"/>
          <p:nvPr/>
        </p:nvSpPr>
        <p:spPr>
          <a:xfrm>
            <a:off x="6373368" y="5650992"/>
            <a:ext cx="420624" cy="420624"/>
          </a:xfrm>
          <a:prstGeom prst="rect">
            <a:avLst/>
          </a:prstGeom>
          <a:noFill/>
          <a:ln/>
        </p:spPr>
        <p:txBody>
          <a:bodyPr wrap="square" lIns="0" tIns="0" rIns="0" bIns="0" rtlCol="0" anchor="ctr"/>
          <a:lstStyle/>
          <a:p>
            <a:pPr algn="ctr" indent="0" marL="0">
              <a:buNone/>
            </a:pPr>
            <a:r>
              <a:rPr lang="en-US" sz="1300" dirty="0">
                <a:solidFill>
                  <a:srgbClr val="FFFFFF"/>
                </a:solidFill>
                <a:latin typeface="Segoe UI Emoji" pitchFamily="34" charset="0"/>
                <a:ea typeface="Segoe UI Emoji" pitchFamily="34" charset="-122"/>
                <a:cs typeface="Segoe UI Emoji" pitchFamily="34" charset="-120"/>
              </a:rPr>
              <a:t>✔</a:t>
            </a:r>
            <a:endParaRPr lang="en-US" sz="1300" dirty="0"/>
          </a:p>
        </p:txBody>
      </p:sp>
      <p:sp>
        <p:nvSpPr>
          <p:cNvPr id="59" name="Text 57"/>
          <p:cNvSpPr txBox="1"/>
          <p:nvPr/>
        </p:nvSpPr>
        <p:spPr>
          <a:xfrm>
            <a:off x="6903720" y="5550408"/>
            <a:ext cx="4782312" cy="649224"/>
          </a:xfrm>
          <a:prstGeom prst="rect">
            <a:avLst/>
          </a:prstGeom>
          <a:noFill/>
          <a:ln/>
        </p:spPr>
        <p:txBody>
          <a:bodyPr wrap="square" lIns="0" tIns="0" rIns="0" bIns="0" rtlCol="0" anchor="ctr"/>
          <a:lstStyle/>
          <a:p>
            <a:pPr indent="0" marL="0">
              <a:buNone/>
            </a:pPr>
            <a:r>
              <a:rPr lang="en-US" sz="1100" b="1" dirty="0">
                <a:solidFill>
                  <a:srgbClr val="0D1117"/>
                </a:solidFill>
                <a:latin typeface="Calibri" pitchFamily="34" charset="0"/>
                <a:ea typeface="Calibri" pitchFamily="34" charset="-122"/>
                <a:cs typeface="Calibri" pitchFamily="34" charset="-120"/>
              </a:rPr>
              <a:t>Same contracts, swappable engines</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Trained NER (IndicBERT) replaces the regex behind the same trigger-and-name contract; Neo4j takes the same node/relation schema; analytics code does not change.</a:t>
            </a:r>
            <a:endParaRPr lang="en-US" sz="1100" dirty="0"/>
          </a:p>
        </p:txBody>
      </p:sp>
      <p:sp>
        <p:nvSpPr>
          <p:cNvPr id="60" name="Shape 58"/>
          <p:cNvSpPr/>
          <p:nvPr/>
        </p:nvSpPr>
        <p:spPr>
          <a:xfrm>
            <a:off x="6035040" y="5751576"/>
            <a:ext cx="182880" cy="228600"/>
          </a:xfrm>
          <a:prstGeom prst="rightArrow">
            <a:avLst/>
          </a:prstGeom>
          <a:solidFill>
            <a:srgbClr val="D0D7DE"/>
          </a:solidFill>
          <a:ln w="12700">
            <a:solidFill>
              <a:srgbClr val="D0D7DE"/>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4114800" cy="292608"/>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PRAHARI</a:t>
            </a:r>
            <a:pPr indent="0" marL="0">
              <a:buNone/>
            </a:pPr>
            <a:r>
              <a:rPr lang="en-US" sz="1200" dirty="0">
                <a:solidFill>
                  <a:srgbClr val="5C6773"/>
                </a:solidFill>
                <a:latin typeface="Calibri" pitchFamily="34" charset="0"/>
                <a:ea typeface="Calibri" pitchFamily="34" charset="-122"/>
                <a:cs typeface="Calibri" pitchFamily="34" charset="-120"/>
              </a:rPr>
              <a:t>  ·  Team PRAHARI</a:t>
            </a:r>
            <a:endParaRPr lang="en-US" sz="1200" dirty="0"/>
          </a:p>
        </p:txBody>
      </p:sp>
      <p:sp>
        <p:nvSpPr>
          <p:cNvPr id="3" name="Text 1"/>
          <p:cNvSpPr txBox="1"/>
          <p:nvPr/>
        </p:nvSpPr>
        <p:spPr>
          <a:xfrm>
            <a:off x="7680960" y="201168"/>
            <a:ext cx="4114800" cy="292608"/>
          </a:xfrm>
          <a:prstGeom prst="rect">
            <a:avLst/>
          </a:prstGeom>
          <a:noFill/>
          <a:ln/>
        </p:spPr>
        <p:txBody>
          <a:bodyPr wrap="square" lIns="0" tIns="0" rIns="0" bIns="0" rtlCol="0" anchor="ctr"/>
          <a:lstStyle/>
          <a:p>
            <a:pPr algn="r" indent="0" marL="0">
              <a:buNone/>
            </a:pPr>
            <a:r>
              <a:rPr lang="en-US" sz="1100" b="1" dirty="0">
                <a:solidFill>
                  <a:srgbClr val="1F6FEB"/>
                </a:solidFill>
                <a:latin typeface="Calibri" pitchFamily="34" charset="0"/>
                <a:ea typeface="Calibri" pitchFamily="34" charset="-122"/>
                <a:cs typeface="Calibri" pitchFamily="34" charset="-120"/>
              </a:rPr>
              <a:t>SMART INDIA HACKATHON 2026  ·  PS 26189</a:t>
            </a:r>
            <a:endParaRPr lang="en-US" sz="1100" dirty="0"/>
          </a:p>
        </p:txBody>
      </p:sp>
      <p:sp>
        <p:nvSpPr>
          <p:cNvPr id="4" name="Text 2"/>
          <p:cNvSpPr txBox="1"/>
          <p:nvPr/>
        </p:nvSpPr>
        <p:spPr>
          <a:xfrm>
            <a:off x="411480" y="457200"/>
            <a:ext cx="11338560" cy="548640"/>
          </a:xfrm>
          <a:prstGeom prst="rect">
            <a:avLst/>
          </a:prstGeom>
          <a:noFill/>
          <a:ln/>
        </p:spPr>
        <p:txBody>
          <a:bodyPr wrap="square" lIns="0" tIns="0" rIns="0" bIns="0" rtlCol="0" anchor="ctr"/>
          <a:lstStyle/>
          <a:p>
            <a:pPr indent="0" marL="0">
              <a:buNone/>
            </a:pPr>
            <a:r>
              <a:rPr lang="en-US" sz="2800" b="1" dirty="0">
                <a:solidFill>
                  <a:srgbClr val="0D1117"/>
                </a:solidFill>
                <a:latin typeface="Calibri" pitchFamily="34" charset="0"/>
                <a:ea typeface="Calibri" pitchFamily="34" charset="-122"/>
                <a:cs typeface="Calibri" pitchFamily="34" charset="-120"/>
              </a:rPr>
              <a:t>Prototype  ·  Future Plans</a:t>
            </a:r>
            <a:endParaRPr lang="en-US" sz="2800" dirty="0"/>
          </a:p>
        </p:txBody>
      </p:sp>
      <p:pic>
        <p:nvPicPr>
          <p:cNvPr id="5" name="Image 0" descr="C:\Users\SAI VARSHITH\AppData\Local\Temp\claude\C--Users-SAI-VARSHITH-Downloads-SIH-26189-PRAHARI-EvidenceBoard-v3\441cbac6-ef87-4a79-8f47-14d8fb8558f9\scratchpad\deck\shots\board_hero.png">    </p:cNvPr>
          <p:cNvPicPr>
            <a:picLocks noChangeAspect="1"/>
          </p:cNvPicPr>
          <p:nvPr/>
        </p:nvPicPr>
        <p:blipFill>
          <a:blip r:embed="rId1"/>
          <a:stretch>
            <a:fillRect/>
          </a:stretch>
        </p:blipFill>
        <p:spPr>
          <a:xfrm>
            <a:off x="411480" y="1143000"/>
            <a:ext cx="5760720" cy="3084386"/>
          </a:xfrm>
          <a:prstGeom prst="rect">
            <a:avLst/>
          </a:prstGeom>
        </p:spPr>
      </p:pic>
      <p:sp>
        <p:nvSpPr>
          <p:cNvPr id="6" name="Text 3"/>
          <p:cNvSpPr txBox="1"/>
          <p:nvPr/>
        </p:nvSpPr>
        <p:spPr>
          <a:xfrm>
            <a:off x="411480" y="4263962"/>
            <a:ext cx="5760720" cy="274320"/>
          </a:xfrm>
          <a:prstGeom prst="rect">
            <a:avLst/>
          </a:prstGeom>
          <a:noFill/>
          <a:ln/>
        </p:spPr>
        <p:txBody>
          <a:bodyPr wrap="square" lIns="0" tIns="0" rIns="0" bIns="0" rtlCol="0" anchor="ctr"/>
          <a:lstStyle/>
          <a:p>
            <a:pPr indent="0" marL="0">
              <a:buNone/>
            </a:pPr>
            <a:r>
              <a:rPr lang="en-US" sz="850" dirty="0">
                <a:solidFill>
                  <a:srgbClr val="5C6773"/>
                </a:solidFill>
                <a:latin typeface="Calibri" pitchFamily="34" charset="0"/>
                <a:ea typeface="Calibri" pitchFamily="34" charset="-122"/>
                <a:cs typeface="Calibri" pitchFamily="34" charset="-120"/>
              </a:rPr>
              <a:t>Case Board — 28 people, 3 clusters, strings coloured by evidence type; amounts and call counts on the links</a:t>
            </a:r>
            <a:endParaRPr lang="en-US" sz="850" dirty="0"/>
          </a:p>
        </p:txBody>
      </p:sp>
      <p:pic>
        <p:nvPicPr>
          <p:cNvPr id="7" name="Image 1" descr="C:\Users\SAI VARSHITH\AppData\Local\Temp\claude\C--Users-SAI-VARSHITH-Downloads-SIH-26189-PRAHARI-EvidenceBoard-v3\441cbac6-ef87-4a79-8f47-14d8fb8558f9\scratchpad\deck\shots\casefile_panel.png">    </p:cNvPr>
          <p:cNvPicPr>
            <a:picLocks noChangeAspect="1"/>
          </p:cNvPicPr>
          <p:nvPr/>
        </p:nvPicPr>
        <p:blipFill>
          <a:blip r:embed="rId2"/>
          <a:stretch>
            <a:fillRect/>
          </a:stretch>
        </p:blipFill>
        <p:spPr>
          <a:xfrm>
            <a:off x="6355080" y="1143000"/>
            <a:ext cx="1481328" cy="2997307"/>
          </a:xfrm>
          <a:prstGeom prst="rect">
            <a:avLst/>
          </a:prstGeom>
        </p:spPr>
      </p:pic>
      <p:sp>
        <p:nvSpPr>
          <p:cNvPr id="8" name="Text 4"/>
          <p:cNvSpPr txBox="1"/>
          <p:nvPr/>
        </p:nvSpPr>
        <p:spPr>
          <a:xfrm>
            <a:off x="6355080" y="4176883"/>
            <a:ext cx="1755648" cy="274320"/>
          </a:xfrm>
          <a:prstGeom prst="rect">
            <a:avLst/>
          </a:prstGeom>
          <a:noFill/>
          <a:ln/>
        </p:spPr>
        <p:txBody>
          <a:bodyPr wrap="square" lIns="0" tIns="0" rIns="0" bIns="0" rtlCol="0" anchor="ctr"/>
          <a:lstStyle/>
          <a:p>
            <a:pPr indent="0" marL="0">
              <a:buNone/>
            </a:pPr>
            <a:r>
              <a:rPr lang="en-US" sz="850" dirty="0">
                <a:solidFill>
                  <a:srgbClr val="5C6773"/>
                </a:solidFill>
                <a:latin typeface="Calibri" pitchFamily="34" charset="0"/>
                <a:ea typeface="Calibri" pitchFamily="34" charset="-122"/>
                <a:cs typeface="Calibri" pitchFamily="34" charset="-120"/>
              </a:rPr>
              <a:t>Case file: FIR bullets, co-accused, phone recovered</a:t>
            </a:r>
            <a:endParaRPr lang="en-US" sz="850" dirty="0"/>
          </a:p>
        </p:txBody>
      </p:sp>
      <p:pic>
        <p:nvPicPr>
          <p:cNvPr id="9" name="Image 2" descr="C:\Users\SAI VARSHITH\AppData\Local\Temp\claude\C--Users-SAI-VARSHITH-Downloads-SIH-26189-PRAHARI-EvidenceBoard-v3\441cbac6-ef87-4a79-8f47-14d8fb8558f9\scratchpad\deck\shots\leads_card.png">    </p:cNvPr>
          <p:cNvPicPr>
            <a:picLocks noChangeAspect="1"/>
          </p:cNvPicPr>
          <p:nvPr/>
        </p:nvPicPr>
        <p:blipFill>
          <a:blip r:embed="rId3"/>
          <a:stretch>
            <a:fillRect/>
          </a:stretch>
        </p:blipFill>
        <p:spPr>
          <a:xfrm>
            <a:off x="8001000" y="1143000"/>
            <a:ext cx="3794760" cy="863615"/>
          </a:xfrm>
          <a:prstGeom prst="rect">
            <a:avLst/>
          </a:prstGeom>
        </p:spPr>
      </p:pic>
      <p:sp>
        <p:nvSpPr>
          <p:cNvPr id="10" name="Text 5"/>
          <p:cNvSpPr txBox="1"/>
          <p:nvPr/>
        </p:nvSpPr>
        <p:spPr>
          <a:xfrm>
            <a:off x="8001000" y="2034047"/>
            <a:ext cx="3794760" cy="256032"/>
          </a:xfrm>
          <a:prstGeom prst="rect">
            <a:avLst/>
          </a:prstGeom>
          <a:noFill/>
          <a:ln/>
        </p:spPr>
        <p:txBody>
          <a:bodyPr wrap="square" lIns="0" tIns="0" rIns="0" bIns="0" rtlCol="0" anchor="ctr"/>
          <a:lstStyle/>
          <a:p>
            <a:pPr indent="0" marL="0">
              <a:buNone/>
            </a:pPr>
            <a:r>
              <a:rPr lang="en-US" sz="850" dirty="0">
                <a:solidFill>
                  <a:srgbClr val="5C6773"/>
                </a:solidFill>
                <a:latin typeface="Calibri" pitchFamily="34" charset="0"/>
                <a:ea typeface="Calibri" pitchFamily="34" charset="-122"/>
                <a:cs typeface="Calibri" pitchFamily="34" charset="-120"/>
              </a:rPr>
              <a:t>Investigative Lead Score: every point explained and cited, human verdict buttons</a:t>
            </a:r>
            <a:endParaRPr lang="en-US" sz="850" dirty="0"/>
          </a:p>
        </p:txBody>
      </p:sp>
      <p:pic>
        <p:nvPicPr>
          <p:cNvPr id="11" name="Image 3" descr="C:\Users\SAI VARSHITH\AppData\Local\Temp\claude\C--Users-SAI-VARSHITH-Downloads-SIH-26189-PRAHARI-EvidenceBoard-v3\441cbac6-ef87-4a79-8f47-14d8fb8558f9\scratchpad\deck\shots\audit_panel.png">    </p:cNvPr>
          <p:cNvPicPr>
            <a:picLocks noChangeAspect="1"/>
          </p:cNvPicPr>
          <p:nvPr/>
        </p:nvPicPr>
        <p:blipFill>
          <a:blip r:embed="rId4"/>
          <a:stretch>
            <a:fillRect/>
          </a:stretch>
        </p:blipFill>
        <p:spPr>
          <a:xfrm>
            <a:off x="8001000" y="2335799"/>
            <a:ext cx="3794760" cy="1644301"/>
          </a:xfrm>
          <a:prstGeom prst="rect">
            <a:avLst/>
          </a:prstGeom>
        </p:spPr>
      </p:pic>
      <p:sp>
        <p:nvSpPr>
          <p:cNvPr id="12" name="Text 6"/>
          <p:cNvSpPr txBox="1"/>
          <p:nvPr/>
        </p:nvSpPr>
        <p:spPr>
          <a:xfrm>
            <a:off x="8001000" y="4007532"/>
            <a:ext cx="3794760" cy="256032"/>
          </a:xfrm>
          <a:prstGeom prst="rect">
            <a:avLst/>
          </a:prstGeom>
          <a:noFill/>
          <a:ln/>
        </p:spPr>
        <p:txBody>
          <a:bodyPr wrap="square" lIns="0" tIns="0" rIns="0" bIns="0" rtlCol="0" anchor="ctr"/>
          <a:lstStyle/>
          <a:p>
            <a:pPr indent="0" marL="0">
              <a:buNone/>
            </a:pPr>
            <a:r>
              <a:rPr lang="en-US" sz="850" dirty="0">
                <a:solidFill>
                  <a:srgbClr val="5C6773"/>
                </a:solidFill>
                <a:latin typeface="Calibri" pitchFamily="34" charset="0"/>
                <a:ea typeface="Calibri" pitchFamily="34" charset="-122"/>
                <a:cs typeface="Calibri" pitchFamily="34" charset="-120"/>
              </a:rPr>
              <a:t>Audit log: 460 sealed blocks, live Tamper Test</a:t>
            </a:r>
            <a:endParaRPr lang="en-US" sz="850" dirty="0"/>
          </a:p>
        </p:txBody>
      </p:sp>
      <p:sp>
        <p:nvSpPr>
          <p:cNvPr id="13" name="Text 7"/>
          <p:cNvSpPr txBox="1"/>
          <p:nvPr/>
        </p:nvSpPr>
        <p:spPr>
          <a:xfrm>
            <a:off x="411480" y="4754880"/>
            <a:ext cx="5486400" cy="256032"/>
          </a:xfrm>
          <a:prstGeom prst="rect">
            <a:avLst/>
          </a:prstGeom>
          <a:noFill/>
          <a:ln/>
        </p:spPr>
        <p:txBody>
          <a:bodyPr wrap="square" lIns="0" tIns="0" rIns="0" bIns="0" rtlCol="0" anchor="ctr"/>
          <a:lstStyle/>
          <a:p>
            <a:pPr indent="0" marL="0">
              <a:buNone/>
            </a:pPr>
            <a:r>
              <a:rPr lang="en-US" sz="900" b="1" dirty="0">
                <a:solidFill>
                  <a:srgbClr val="5C6773"/>
                </a:solidFill>
                <a:latin typeface="Calibri" pitchFamily="34" charset="0"/>
                <a:ea typeface="Calibri" pitchFamily="34" charset="-122"/>
                <a:cs typeface="Calibri" pitchFamily="34" charset="-120"/>
              </a:rPr>
              <a:t>FUTURE PLANS AND IMPROVEMENTS</a:t>
            </a:r>
            <a:endParaRPr lang="en-US" sz="900" dirty="0"/>
          </a:p>
        </p:txBody>
      </p:sp>
      <p:sp>
        <p:nvSpPr>
          <p:cNvPr id="14" name="Shape 8"/>
          <p:cNvSpPr/>
          <p:nvPr/>
        </p:nvSpPr>
        <p:spPr>
          <a:xfrm>
            <a:off x="411480" y="5047488"/>
            <a:ext cx="2240280" cy="502920"/>
          </a:xfrm>
          <a:prstGeom prst="chevron">
            <a:avLst/>
          </a:prstGeom>
          <a:solidFill>
            <a:srgbClr val="1F6FEB"/>
          </a:solidFill>
          <a:ln w="12700">
            <a:solidFill>
              <a:srgbClr val="1F6FEB"/>
            </a:solidFill>
            <a:prstDash val="solid"/>
          </a:ln>
        </p:spPr>
      </p:sp>
      <p:sp>
        <p:nvSpPr>
          <p:cNvPr id="15" name="Text 9"/>
          <p:cNvSpPr txBox="1"/>
          <p:nvPr/>
        </p:nvSpPr>
        <p:spPr>
          <a:xfrm>
            <a:off x="667512" y="5047488"/>
            <a:ext cx="1783080" cy="5029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Map &amp; geo-fencing</a:t>
            </a:r>
            <a:endParaRPr lang="en-US" sz="1000" dirty="0"/>
          </a:p>
        </p:txBody>
      </p:sp>
      <p:sp>
        <p:nvSpPr>
          <p:cNvPr id="16" name="Text 10"/>
          <p:cNvSpPr txBox="1"/>
          <p:nvPr/>
        </p:nvSpPr>
        <p:spPr>
          <a:xfrm>
            <a:off x="457200" y="5577840"/>
            <a:ext cx="2148840" cy="457200"/>
          </a:xfrm>
          <a:prstGeom prst="rect">
            <a:avLst/>
          </a:prstGeom>
          <a:noFill/>
          <a:ln/>
        </p:spPr>
        <p:txBody>
          <a:bodyPr wrap="square" lIns="0" tIns="0" rIns="0" bIns="0" rtlCol="0" anchor="t"/>
          <a:lstStyle/>
          <a:p>
            <a:pPr indent="0" marL="0">
              <a:buNone/>
            </a:pPr>
            <a:r>
              <a:rPr lang="en-US" sz="850" dirty="0">
                <a:solidFill>
                  <a:srgbClr val="1B2430"/>
                </a:solidFill>
                <a:latin typeface="Calibri" pitchFamily="34" charset="0"/>
                <a:ea typeface="Calibri" pitchFamily="34" charset="-122"/>
                <a:cs typeface="Calibri" pitchFamily="34" charset="-120"/>
              </a:rPr>
              <a:t>CCTV/ANPR and GPS already ingest and stage</a:t>
            </a:r>
            <a:endParaRPr lang="en-US" sz="850" dirty="0"/>
          </a:p>
        </p:txBody>
      </p:sp>
      <p:sp>
        <p:nvSpPr>
          <p:cNvPr id="17" name="Shape 11"/>
          <p:cNvSpPr/>
          <p:nvPr/>
        </p:nvSpPr>
        <p:spPr>
          <a:xfrm>
            <a:off x="2697480" y="5047488"/>
            <a:ext cx="2240280" cy="502920"/>
          </a:xfrm>
          <a:prstGeom prst="chevron">
            <a:avLst/>
          </a:prstGeom>
          <a:solidFill>
            <a:srgbClr val="6F42C1"/>
          </a:solidFill>
          <a:ln w="12700">
            <a:solidFill>
              <a:srgbClr val="6F42C1"/>
            </a:solidFill>
            <a:prstDash val="solid"/>
          </a:ln>
        </p:spPr>
      </p:sp>
      <p:sp>
        <p:nvSpPr>
          <p:cNvPr id="18" name="Text 12"/>
          <p:cNvSpPr txBox="1"/>
          <p:nvPr/>
        </p:nvSpPr>
        <p:spPr>
          <a:xfrm>
            <a:off x="2953512" y="5047488"/>
            <a:ext cx="1783080" cy="5029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OSINT &amp; documents</a:t>
            </a:r>
            <a:endParaRPr lang="en-US" sz="1000" dirty="0"/>
          </a:p>
        </p:txBody>
      </p:sp>
      <p:sp>
        <p:nvSpPr>
          <p:cNvPr id="19" name="Text 13"/>
          <p:cNvSpPr txBox="1"/>
          <p:nvPr/>
        </p:nvSpPr>
        <p:spPr>
          <a:xfrm>
            <a:off x="2743200" y="5577840"/>
            <a:ext cx="2148840" cy="457200"/>
          </a:xfrm>
          <a:prstGeom prst="rect">
            <a:avLst/>
          </a:prstGeom>
          <a:noFill/>
          <a:ln/>
        </p:spPr>
        <p:txBody>
          <a:bodyPr wrap="square" lIns="0" tIns="0" rIns="0" bIns="0" rtlCol="0" anchor="t"/>
          <a:lstStyle/>
          <a:p>
            <a:pPr indent="0" marL="0">
              <a:buNone/>
            </a:pPr>
            <a:r>
              <a:rPr lang="en-US" sz="850" dirty="0">
                <a:solidFill>
                  <a:srgbClr val="1B2430"/>
                </a:solidFill>
                <a:latin typeface="Calibri" pitchFamily="34" charset="0"/>
                <a:ea typeface="Calibri" pitchFamily="34" charset="-122"/>
                <a:cs typeface="Calibri" pitchFamily="34" charset="-120"/>
              </a:rPr>
              <a:t>social records, FIR browser, multi-hop explore</a:t>
            </a:r>
            <a:endParaRPr lang="en-US" sz="850" dirty="0"/>
          </a:p>
        </p:txBody>
      </p:sp>
      <p:sp>
        <p:nvSpPr>
          <p:cNvPr id="20" name="Shape 14"/>
          <p:cNvSpPr/>
          <p:nvPr/>
        </p:nvSpPr>
        <p:spPr>
          <a:xfrm>
            <a:off x="4983480" y="5047488"/>
            <a:ext cx="2240280" cy="502920"/>
          </a:xfrm>
          <a:prstGeom prst="chevron">
            <a:avLst/>
          </a:prstGeom>
          <a:solidFill>
            <a:srgbClr val="B7791F"/>
          </a:solidFill>
          <a:ln w="12700">
            <a:solidFill>
              <a:srgbClr val="B7791F"/>
            </a:solidFill>
            <a:prstDash val="solid"/>
          </a:ln>
        </p:spPr>
      </p:sp>
      <p:sp>
        <p:nvSpPr>
          <p:cNvPr id="21" name="Text 15"/>
          <p:cNvSpPr txBox="1"/>
          <p:nvPr/>
        </p:nvSpPr>
        <p:spPr>
          <a:xfrm>
            <a:off x="5239512" y="5047488"/>
            <a:ext cx="1783080" cy="5029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RBAC + multilingual NER</a:t>
            </a:r>
            <a:endParaRPr lang="en-US" sz="1000" dirty="0"/>
          </a:p>
        </p:txBody>
      </p:sp>
      <p:sp>
        <p:nvSpPr>
          <p:cNvPr id="22" name="Text 16"/>
          <p:cNvSpPr txBox="1"/>
          <p:nvPr/>
        </p:nvSpPr>
        <p:spPr>
          <a:xfrm>
            <a:off x="5029200" y="5577840"/>
            <a:ext cx="2148840" cy="457200"/>
          </a:xfrm>
          <a:prstGeom prst="rect">
            <a:avLst/>
          </a:prstGeom>
          <a:noFill/>
          <a:ln/>
        </p:spPr>
        <p:txBody>
          <a:bodyPr wrap="square" lIns="0" tIns="0" rIns="0" bIns="0" rtlCol="0" anchor="t"/>
          <a:lstStyle/>
          <a:p>
            <a:pPr indent="0" marL="0">
              <a:buNone/>
            </a:pPr>
            <a:r>
              <a:rPr lang="en-US" sz="850" dirty="0">
                <a:solidFill>
                  <a:srgbClr val="1B2430"/>
                </a:solidFill>
                <a:latin typeface="Calibri" pitchFamily="34" charset="0"/>
                <a:ea typeface="Calibri" pitchFamily="34" charset="-122"/>
                <a:cs typeface="Calibri" pitchFamily="34" charset="-120"/>
              </a:rPr>
              <a:t>IndicBERT behind the same extractor contract</a:t>
            </a:r>
            <a:endParaRPr lang="en-US" sz="850" dirty="0"/>
          </a:p>
        </p:txBody>
      </p:sp>
      <p:sp>
        <p:nvSpPr>
          <p:cNvPr id="23" name="Shape 17"/>
          <p:cNvSpPr/>
          <p:nvPr/>
        </p:nvSpPr>
        <p:spPr>
          <a:xfrm>
            <a:off x="7269480" y="5047488"/>
            <a:ext cx="2240280" cy="502920"/>
          </a:xfrm>
          <a:prstGeom prst="chevron">
            <a:avLst/>
          </a:prstGeom>
          <a:solidFill>
            <a:srgbClr val="0B7285"/>
          </a:solidFill>
          <a:ln w="12700">
            <a:solidFill>
              <a:srgbClr val="0B7285"/>
            </a:solidFill>
            <a:prstDash val="solid"/>
          </a:ln>
        </p:spPr>
      </p:sp>
      <p:sp>
        <p:nvSpPr>
          <p:cNvPr id="24" name="Text 18"/>
          <p:cNvSpPr txBox="1"/>
          <p:nvPr/>
        </p:nvSpPr>
        <p:spPr>
          <a:xfrm>
            <a:off x="7525512" y="5047488"/>
            <a:ext cx="1783080" cy="5029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Neo4j + live connectors</a:t>
            </a:r>
            <a:endParaRPr lang="en-US" sz="1000" dirty="0"/>
          </a:p>
        </p:txBody>
      </p:sp>
      <p:sp>
        <p:nvSpPr>
          <p:cNvPr id="25" name="Text 19"/>
          <p:cNvSpPr txBox="1"/>
          <p:nvPr/>
        </p:nvSpPr>
        <p:spPr>
          <a:xfrm>
            <a:off x="7315200" y="5577840"/>
            <a:ext cx="2148840" cy="457200"/>
          </a:xfrm>
          <a:prstGeom prst="rect">
            <a:avLst/>
          </a:prstGeom>
          <a:noFill/>
          <a:ln/>
        </p:spPr>
        <p:txBody>
          <a:bodyPr wrap="square" lIns="0" tIns="0" rIns="0" bIns="0" rtlCol="0" anchor="t"/>
          <a:lstStyle/>
          <a:p>
            <a:pPr indent="0" marL="0">
              <a:buNone/>
            </a:pPr>
            <a:r>
              <a:rPr lang="en-US" sz="850" dirty="0">
                <a:solidFill>
                  <a:srgbClr val="1B2430"/>
                </a:solidFill>
                <a:latin typeface="Calibri" pitchFamily="34" charset="0"/>
                <a:ea typeface="Calibri" pitchFamily="34" charset="-122"/>
                <a:cs typeface="Calibri" pitchFamily="34" charset="-120"/>
              </a:rPr>
              <a:t>CCTNS, telecom CDR, FIU-IND, e-Prisons, VAHAN</a:t>
            </a:r>
            <a:endParaRPr lang="en-US" sz="850" dirty="0"/>
          </a:p>
        </p:txBody>
      </p:sp>
      <p:sp>
        <p:nvSpPr>
          <p:cNvPr id="26" name="Shape 20"/>
          <p:cNvSpPr/>
          <p:nvPr/>
        </p:nvSpPr>
        <p:spPr>
          <a:xfrm>
            <a:off x="9555480" y="5047488"/>
            <a:ext cx="2240280" cy="502920"/>
          </a:xfrm>
          <a:prstGeom prst="chevron">
            <a:avLst/>
          </a:prstGeom>
          <a:solidFill>
            <a:srgbClr val="1F8A4C"/>
          </a:solidFill>
          <a:ln w="12700">
            <a:solidFill>
              <a:srgbClr val="1F8A4C"/>
            </a:solidFill>
            <a:prstDash val="solid"/>
          </a:ln>
        </p:spPr>
      </p:sp>
      <p:sp>
        <p:nvSpPr>
          <p:cNvPr id="27" name="Text 21"/>
          <p:cNvSpPr txBox="1"/>
          <p:nvPr/>
        </p:nvSpPr>
        <p:spPr>
          <a:xfrm>
            <a:off x="9811512" y="5047488"/>
            <a:ext cx="1783080" cy="5029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Permissioned ledger</a:t>
            </a:r>
            <a:endParaRPr lang="en-US" sz="1000" dirty="0"/>
          </a:p>
        </p:txBody>
      </p:sp>
      <p:sp>
        <p:nvSpPr>
          <p:cNvPr id="28" name="Text 22"/>
          <p:cNvSpPr txBox="1"/>
          <p:nvPr/>
        </p:nvSpPr>
        <p:spPr>
          <a:xfrm>
            <a:off x="9601200" y="5577840"/>
            <a:ext cx="2148840" cy="457200"/>
          </a:xfrm>
          <a:prstGeom prst="rect">
            <a:avLst/>
          </a:prstGeom>
          <a:noFill/>
          <a:ln/>
        </p:spPr>
        <p:txBody>
          <a:bodyPr wrap="square" lIns="0" tIns="0" rIns="0" bIns="0" rtlCol="0" anchor="t"/>
          <a:lstStyle/>
          <a:p>
            <a:pPr indent="0" marL="0">
              <a:buNone/>
            </a:pPr>
            <a:r>
              <a:rPr lang="en-US" sz="850" dirty="0">
                <a:solidFill>
                  <a:srgbClr val="1B2430"/>
                </a:solidFill>
                <a:latin typeface="Calibri" pitchFamily="34" charset="0"/>
                <a:ea typeface="Calibri" pitchFamily="34" charset="-122"/>
                <a:cs typeface="Calibri" pitchFamily="34" charset="-120"/>
              </a:rPr>
              <a:t>Hyperledger across NCRB nodes, HSM keys</a:t>
            </a:r>
            <a:endParaRPr lang="en-US" sz="850" dirty="0"/>
          </a:p>
        </p:txBody>
      </p:sp>
      <p:sp>
        <p:nvSpPr>
          <p:cNvPr id="29" name="Text 23"/>
          <p:cNvSpPr txBox="1"/>
          <p:nvPr/>
        </p:nvSpPr>
        <p:spPr>
          <a:xfrm>
            <a:off x="411480" y="6053328"/>
            <a:ext cx="4206240" cy="320040"/>
          </a:xfrm>
          <a:prstGeom prst="rect">
            <a:avLst/>
          </a:prstGeom>
          <a:noFill/>
          <a:ln/>
        </p:spPr>
        <p:txBody>
          <a:bodyPr wrap="square" lIns="0" tIns="0" rIns="0" bIns="0" rtlCol="0" anchor="ctr"/>
          <a:lstStyle/>
          <a:p>
            <a:pPr indent="0" marL="0">
              <a:buNone/>
            </a:pPr>
            <a:r>
              <a:rPr lang="en-US" sz="1050" b="1" dirty="0">
                <a:solidFill>
                  <a:srgbClr val="5C6773"/>
                </a:solidFill>
                <a:latin typeface="Calibri" pitchFamily="34" charset="0"/>
                <a:ea typeface="Calibri" pitchFamily="34" charset="-122"/>
                <a:cs typeface="Calibri" pitchFamily="34" charset="-120"/>
              </a:rPr>
              <a:t>Project Repo:  </a:t>
            </a:r>
            <a:pPr indent="0" marL="0">
              <a:buNone/>
            </a:pPr>
            <a:r>
              <a:rPr lang="en-US" sz="1050" b="1" u="sng" dirty="0">
                <a:solidFill>
                  <a:srgbClr val="1F6FEB"/>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github.com/varshithreddygujjulla/prahari</a:t>
            </a:r>
            <a:endParaRPr lang="en-US" sz="1050" dirty="0"/>
          </a:p>
        </p:txBody>
      </p:sp>
      <p:sp>
        <p:nvSpPr>
          <p:cNvPr id="30" name="Text 24"/>
          <p:cNvSpPr txBox="1"/>
          <p:nvPr/>
        </p:nvSpPr>
        <p:spPr>
          <a:xfrm>
            <a:off x="4663440" y="6053328"/>
            <a:ext cx="4754880" cy="320040"/>
          </a:xfrm>
          <a:prstGeom prst="rect">
            <a:avLst/>
          </a:prstGeom>
          <a:noFill/>
          <a:ln/>
        </p:spPr>
        <p:txBody>
          <a:bodyPr wrap="square" lIns="0" tIns="0" rIns="0" bIns="0" rtlCol="0" anchor="ctr"/>
          <a:lstStyle/>
          <a:p>
            <a:pPr indent="0" marL="0">
              <a:buNone/>
            </a:pPr>
            <a:r>
              <a:rPr lang="en-US" sz="1050" b="1" dirty="0">
                <a:solidFill>
                  <a:srgbClr val="5C6773"/>
                </a:solidFill>
                <a:latin typeface="Calibri" pitchFamily="34" charset="0"/>
                <a:ea typeface="Calibri" pitchFamily="34" charset="-122"/>
                <a:cs typeface="Calibri" pitchFamily="34" charset="-120"/>
              </a:rPr>
              <a:t>Prototype:  </a:t>
            </a:r>
            <a:pPr indent="0" marL="0">
              <a:buNone/>
            </a:pPr>
            <a:r>
              <a:rPr lang="en-US" sz="1050" b="1" dirty="0">
                <a:solidFill>
                  <a:srgbClr val="0D1117"/>
                </a:solidFill>
                <a:latin typeface="Calibri" pitchFamily="34" charset="0"/>
                <a:ea typeface="Calibri" pitchFamily="34" charset="-122"/>
                <a:cs typeface="Calibri" pitchFamily="34" charset="-120"/>
              </a:rPr>
              <a:t>runs offline — python -m uvicorn backend.main:app → localhost:8000</a:t>
            </a:r>
            <a:endParaRPr lang="en-US" sz="1050" dirty="0"/>
          </a:p>
        </p:txBody>
      </p:sp>
      <p:sp>
        <p:nvSpPr>
          <p:cNvPr id="31" name="Text 25"/>
          <p:cNvSpPr txBox="1"/>
          <p:nvPr/>
        </p:nvSpPr>
        <p:spPr>
          <a:xfrm>
            <a:off x="9509760" y="6053328"/>
            <a:ext cx="2286000" cy="320040"/>
          </a:xfrm>
          <a:prstGeom prst="rect">
            <a:avLst/>
          </a:prstGeom>
          <a:noFill/>
          <a:ln/>
        </p:spPr>
        <p:txBody>
          <a:bodyPr wrap="square" lIns="0" tIns="0" rIns="0" bIns="0" rtlCol="0" anchor="ctr"/>
          <a:lstStyle/>
          <a:p>
            <a:pPr indent="0" marL="0">
              <a:buNone/>
            </a:pPr>
            <a:r>
              <a:rPr lang="en-US" sz="1050" b="1" dirty="0">
                <a:solidFill>
                  <a:srgbClr val="5C6773"/>
                </a:solidFill>
                <a:latin typeface="Calibri" pitchFamily="34" charset="0"/>
                <a:ea typeface="Calibri" pitchFamily="34" charset="-122"/>
                <a:cs typeface="Calibri" pitchFamily="34" charset="-120"/>
              </a:rPr>
              <a:t>Prototype Video:  </a:t>
            </a:r>
            <a:pPr indent="0" marL="0">
              <a:buNone/>
            </a:pPr>
            <a:r>
              <a:rPr lang="en-US" sz="1050" b="1" dirty="0">
                <a:solidFill>
                  <a:srgbClr val="0D1117"/>
                </a:solidFill>
                <a:latin typeface="Calibri" pitchFamily="34" charset="0"/>
                <a:ea typeface="Calibri" pitchFamily="34" charset="-122"/>
                <a:cs typeface="Calibri" pitchFamily="34" charset="-120"/>
              </a:rPr>
              <a:t>in preparation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4114800" cy="292608"/>
          </a:xfrm>
          <a:prstGeom prst="rect">
            <a:avLst/>
          </a:prstGeom>
          <a:noFill/>
          <a:ln/>
        </p:spPr>
        <p:txBody>
          <a:bodyPr wrap="square" lIns="0" tIns="0" rIns="0" bIns="0" rtlCol="0" anchor="ctr"/>
          <a:lstStyle/>
          <a:p>
            <a:pPr indent="0" marL="0">
              <a:buNone/>
            </a:pPr>
            <a:r>
              <a:rPr lang="en-US" sz="1200" b="1" dirty="0">
                <a:solidFill>
                  <a:srgbClr val="0D1117"/>
                </a:solidFill>
                <a:latin typeface="Calibri" pitchFamily="34" charset="0"/>
                <a:ea typeface="Calibri" pitchFamily="34" charset="-122"/>
                <a:cs typeface="Calibri" pitchFamily="34" charset="-120"/>
              </a:rPr>
              <a:t>PRAHARI</a:t>
            </a:r>
            <a:pPr indent="0" marL="0">
              <a:buNone/>
            </a:pPr>
            <a:r>
              <a:rPr lang="en-US" sz="1200" dirty="0">
                <a:solidFill>
                  <a:srgbClr val="5C6773"/>
                </a:solidFill>
                <a:latin typeface="Calibri" pitchFamily="34" charset="0"/>
                <a:ea typeface="Calibri" pitchFamily="34" charset="-122"/>
                <a:cs typeface="Calibri" pitchFamily="34" charset="-120"/>
              </a:rPr>
              <a:t>  ·  Team PRAHARI</a:t>
            </a:r>
            <a:endParaRPr lang="en-US" sz="1200" dirty="0"/>
          </a:p>
        </p:txBody>
      </p:sp>
      <p:sp>
        <p:nvSpPr>
          <p:cNvPr id="3" name="Text 1"/>
          <p:cNvSpPr txBox="1"/>
          <p:nvPr/>
        </p:nvSpPr>
        <p:spPr>
          <a:xfrm>
            <a:off x="7680960" y="201168"/>
            <a:ext cx="4114800" cy="292608"/>
          </a:xfrm>
          <a:prstGeom prst="rect">
            <a:avLst/>
          </a:prstGeom>
          <a:noFill/>
          <a:ln/>
        </p:spPr>
        <p:txBody>
          <a:bodyPr wrap="square" lIns="0" tIns="0" rIns="0" bIns="0" rtlCol="0" anchor="ctr"/>
          <a:lstStyle/>
          <a:p>
            <a:pPr algn="r" indent="0" marL="0">
              <a:buNone/>
            </a:pPr>
            <a:r>
              <a:rPr lang="en-US" sz="1100" b="1" dirty="0">
                <a:solidFill>
                  <a:srgbClr val="1F6FEB"/>
                </a:solidFill>
                <a:latin typeface="Calibri" pitchFamily="34" charset="0"/>
                <a:ea typeface="Calibri" pitchFamily="34" charset="-122"/>
                <a:cs typeface="Calibri" pitchFamily="34" charset="-120"/>
              </a:rPr>
              <a:t>SMART INDIA HACKATHON 2026  ·  PS 26189</a:t>
            </a:r>
            <a:endParaRPr lang="en-US" sz="1100" dirty="0"/>
          </a:p>
        </p:txBody>
      </p:sp>
      <p:sp>
        <p:nvSpPr>
          <p:cNvPr id="4" name="Text 2"/>
          <p:cNvSpPr txBox="1"/>
          <p:nvPr/>
        </p:nvSpPr>
        <p:spPr>
          <a:xfrm>
            <a:off x="411480" y="457200"/>
            <a:ext cx="11338560" cy="548640"/>
          </a:xfrm>
          <a:prstGeom prst="rect">
            <a:avLst/>
          </a:prstGeom>
          <a:noFill/>
          <a:ln/>
        </p:spPr>
        <p:txBody>
          <a:bodyPr wrap="square" lIns="0" tIns="0" rIns="0" bIns="0" rtlCol="0" anchor="ctr"/>
          <a:lstStyle/>
          <a:p>
            <a:pPr indent="0" marL="0">
              <a:buNone/>
            </a:pPr>
            <a:r>
              <a:rPr lang="en-US" sz="2800" b="1" dirty="0">
                <a:solidFill>
                  <a:srgbClr val="0D1117"/>
                </a:solidFill>
                <a:latin typeface="Calibri" pitchFamily="34" charset="0"/>
                <a:ea typeface="Calibri" pitchFamily="34" charset="-122"/>
                <a:cs typeface="Calibri" pitchFamily="34" charset="-120"/>
              </a:rPr>
              <a:t>Resources &amp; References</a:t>
            </a:r>
            <a:endParaRPr lang="en-US" sz="2800" dirty="0"/>
          </a:p>
        </p:txBody>
      </p:sp>
      <p:sp>
        <p:nvSpPr>
          <p:cNvPr id="5" name="Shape 3"/>
          <p:cNvSpPr/>
          <p:nvPr/>
        </p:nvSpPr>
        <p:spPr>
          <a:xfrm>
            <a:off x="411480" y="1188720"/>
            <a:ext cx="6903720" cy="5212080"/>
          </a:xfrm>
          <a:prstGeom prst="roundRect">
            <a:avLst>
              <a:gd name="adj" fmla="val 1404"/>
            </a:avLst>
          </a:prstGeom>
          <a:solidFill>
            <a:srgbClr val="F3F5F8"/>
          </a:solidFill>
          <a:ln w="12700">
            <a:solidFill>
              <a:srgbClr val="F3F5F8"/>
            </a:solidFill>
            <a:prstDash val="solid"/>
          </a:ln>
          <a:effectLst>
            <a:outerShdw sx="100000" sy="100000" kx="0" ky="0" algn="bl" rotWithShape="0" blurRad="50800" dist="12700" dir="5400000">
              <a:srgbClr val="000000">
                <a:alpha val="12000"/>
              </a:srgbClr>
            </a:outerShdw>
          </a:effectLst>
        </p:spPr>
      </p:sp>
      <p:sp>
        <p:nvSpPr>
          <p:cNvPr id="6" name="Text 4"/>
          <p:cNvSpPr txBox="1"/>
          <p:nvPr/>
        </p:nvSpPr>
        <p:spPr>
          <a:xfrm>
            <a:off x="640080" y="1325880"/>
            <a:ext cx="6400800" cy="274320"/>
          </a:xfrm>
          <a:prstGeom prst="rect">
            <a:avLst/>
          </a:prstGeom>
          <a:noFill/>
          <a:ln/>
        </p:spPr>
        <p:txBody>
          <a:bodyPr wrap="square" lIns="0" tIns="0" rIns="0" bIns="0" rtlCol="0" anchor="ctr"/>
          <a:lstStyle/>
          <a:p>
            <a:pPr indent="0" marL="0">
              <a:buNone/>
            </a:pPr>
            <a:r>
              <a:rPr lang="en-US" sz="900" b="1" dirty="0">
                <a:solidFill>
                  <a:srgbClr val="5C6773"/>
                </a:solidFill>
                <a:latin typeface="Calibri" pitchFamily="34" charset="0"/>
                <a:ea typeface="Calibri" pitchFamily="34" charset="-122"/>
                <a:cs typeface="Calibri" pitchFamily="34" charset="-120"/>
              </a:rPr>
              <a:t>RESEARCH AND STANDARDS BEHIND THE DESIGN</a:t>
            </a:r>
            <a:endParaRPr lang="en-US" sz="900" dirty="0"/>
          </a:p>
        </p:txBody>
      </p:sp>
      <p:sp>
        <p:nvSpPr>
          <p:cNvPr id="7" name="Shape 5"/>
          <p:cNvSpPr/>
          <p:nvPr/>
        </p:nvSpPr>
        <p:spPr>
          <a:xfrm>
            <a:off x="640080" y="1719072"/>
            <a:ext cx="310896" cy="310896"/>
          </a:xfrm>
          <a:prstGeom prst="ellipse">
            <a:avLst/>
          </a:prstGeom>
          <a:solidFill>
            <a:srgbClr val="1F6FEB"/>
          </a:solidFill>
          <a:ln w="12700">
            <a:solidFill>
              <a:srgbClr val="1F6FEB"/>
            </a:solidFill>
            <a:prstDash val="solid"/>
          </a:ln>
        </p:spPr>
      </p:sp>
      <p:sp>
        <p:nvSpPr>
          <p:cNvPr id="8" name="Text 6"/>
          <p:cNvSpPr txBox="1"/>
          <p:nvPr/>
        </p:nvSpPr>
        <p:spPr>
          <a:xfrm>
            <a:off x="640080" y="1719072"/>
            <a:ext cx="310896"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Emoji" pitchFamily="34" charset="0"/>
                <a:ea typeface="Segoe UI Emoji" pitchFamily="34" charset="-122"/>
                <a:cs typeface="Segoe UI Emoji" pitchFamily="34" charset="-120"/>
              </a:rPr>
              <a:t>1</a:t>
            </a:r>
            <a:endParaRPr lang="en-US" sz="1000" dirty="0"/>
          </a:p>
        </p:txBody>
      </p:sp>
      <p:sp>
        <p:nvSpPr>
          <p:cNvPr id="9" name="Text 7"/>
          <p:cNvSpPr txBox="1"/>
          <p:nvPr/>
        </p:nvSpPr>
        <p:spPr>
          <a:xfrm>
            <a:off x="1097280" y="1691640"/>
            <a:ext cx="6035040" cy="731520"/>
          </a:xfrm>
          <a:prstGeom prst="rect">
            <a:avLst/>
          </a:prstGeom>
          <a:noFill/>
          <a:ln/>
        </p:spPr>
        <p:txBody>
          <a:bodyPr wrap="square" lIns="0" tIns="0" rIns="0" bIns="0" rtlCol="0" anchor="t"/>
          <a:lstStyle/>
          <a:p>
            <a:pPr indent="0" marL="0">
              <a:buNone/>
            </a:pPr>
            <a:r>
              <a:rPr lang="en-US" sz="1100" b="1" dirty="0">
                <a:solidFill>
                  <a:srgbClr val="0D1117"/>
                </a:solidFill>
                <a:latin typeface="Calibri" pitchFamily="34" charset="0"/>
                <a:ea typeface="Calibri" pitchFamily="34" charset="-122"/>
                <a:cs typeface="Calibri" pitchFamily="34" charset="-120"/>
              </a:rPr>
              <a:t>Criminal network analysis</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Sparrow, M. K. (1991). The application of network analysis to criminal intelligence. Social Networks 13(3). · Morselli, C. (2009). Inside Criminal Networks. Springer.</a:t>
            </a:r>
            <a:endParaRPr lang="en-US" sz="1100" dirty="0"/>
          </a:p>
        </p:txBody>
      </p:sp>
      <p:sp>
        <p:nvSpPr>
          <p:cNvPr id="10" name="Shape 8"/>
          <p:cNvSpPr/>
          <p:nvPr/>
        </p:nvSpPr>
        <p:spPr>
          <a:xfrm>
            <a:off x="640080" y="2487168"/>
            <a:ext cx="310896" cy="310896"/>
          </a:xfrm>
          <a:prstGeom prst="ellipse">
            <a:avLst/>
          </a:prstGeom>
          <a:solidFill>
            <a:srgbClr val="1F6FEB"/>
          </a:solidFill>
          <a:ln w="12700">
            <a:solidFill>
              <a:srgbClr val="1F6FEB"/>
            </a:solidFill>
            <a:prstDash val="solid"/>
          </a:ln>
        </p:spPr>
      </p:sp>
      <p:sp>
        <p:nvSpPr>
          <p:cNvPr id="11" name="Text 9"/>
          <p:cNvSpPr txBox="1"/>
          <p:nvPr/>
        </p:nvSpPr>
        <p:spPr>
          <a:xfrm>
            <a:off x="640080" y="2487168"/>
            <a:ext cx="310896"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Emoji" pitchFamily="34" charset="0"/>
                <a:ea typeface="Segoe UI Emoji" pitchFamily="34" charset="-122"/>
                <a:cs typeface="Segoe UI Emoji" pitchFamily="34" charset="-120"/>
              </a:rPr>
              <a:t>2</a:t>
            </a:r>
            <a:endParaRPr lang="en-US" sz="1000" dirty="0"/>
          </a:p>
        </p:txBody>
      </p:sp>
      <p:sp>
        <p:nvSpPr>
          <p:cNvPr id="12" name="Text 10"/>
          <p:cNvSpPr txBox="1"/>
          <p:nvPr/>
        </p:nvSpPr>
        <p:spPr>
          <a:xfrm>
            <a:off x="1097280" y="2459736"/>
            <a:ext cx="6035040" cy="731520"/>
          </a:xfrm>
          <a:prstGeom prst="rect">
            <a:avLst/>
          </a:prstGeom>
          <a:noFill/>
          <a:ln/>
        </p:spPr>
        <p:txBody>
          <a:bodyPr wrap="square" lIns="0" tIns="0" rIns="0" bIns="0" rtlCol="0" anchor="t"/>
          <a:lstStyle/>
          <a:p>
            <a:pPr indent="0" marL="0">
              <a:buNone/>
            </a:pPr>
            <a:r>
              <a:rPr lang="en-US" sz="1100" b="1" dirty="0">
                <a:solidFill>
                  <a:srgbClr val="0D1117"/>
                </a:solidFill>
                <a:latin typeface="Calibri" pitchFamily="34" charset="0"/>
                <a:ea typeface="Calibri" pitchFamily="34" charset="-122"/>
                <a:cs typeface="Calibri" pitchFamily="34" charset="-120"/>
              </a:rPr>
              <a:t>Centrality and communities</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Brin, S. &amp; Page, L. (1998). The anatomy of a large-scale hypertextual web search engine. · Clauset, Newman &amp; Moore (2004). Finding community structure in very large networks. Phys. Rev. E 70.</a:t>
            </a:r>
            <a:endParaRPr lang="en-US" sz="1100" dirty="0"/>
          </a:p>
        </p:txBody>
      </p:sp>
      <p:sp>
        <p:nvSpPr>
          <p:cNvPr id="13" name="Shape 11"/>
          <p:cNvSpPr/>
          <p:nvPr/>
        </p:nvSpPr>
        <p:spPr>
          <a:xfrm>
            <a:off x="640080" y="3255264"/>
            <a:ext cx="310896" cy="310896"/>
          </a:xfrm>
          <a:prstGeom prst="ellipse">
            <a:avLst/>
          </a:prstGeom>
          <a:solidFill>
            <a:srgbClr val="1F6FEB"/>
          </a:solidFill>
          <a:ln w="12700">
            <a:solidFill>
              <a:srgbClr val="1F6FEB"/>
            </a:solidFill>
            <a:prstDash val="solid"/>
          </a:ln>
        </p:spPr>
      </p:sp>
      <p:sp>
        <p:nvSpPr>
          <p:cNvPr id="14" name="Text 12"/>
          <p:cNvSpPr txBox="1"/>
          <p:nvPr/>
        </p:nvSpPr>
        <p:spPr>
          <a:xfrm>
            <a:off x="640080" y="3255264"/>
            <a:ext cx="310896"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Emoji" pitchFamily="34" charset="0"/>
                <a:ea typeface="Segoe UI Emoji" pitchFamily="34" charset="-122"/>
                <a:cs typeface="Segoe UI Emoji" pitchFamily="34" charset="-120"/>
              </a:rPr>
              <a:t>3</a:t>
            </a:r>
            <a:endParaRPr lang="en-US" sz="1000" dirty="0"/>
          </a:p>
        </p:txBody>
      </p:sp>
      <p:sp>
        <p:nvSpPr>
          <p:cNvPr id="15" name="Text 13"/>
          <p:cNvSpPr txBox="1"/>
          <p:nvPr/>
        </p:nvSpPr>
        <p:spPr>
          <a:xfrm>
            <a:off x="1097280" y="3227832"/>
            <a:ext cx="6035040" cy="731520"/>
          </a:xfrm>
          <a:prstGeom prst="rect">
            <a:avLst/>
          </a:prstGeom>
          <a:noFill/>
          <a:ln/>
        </p:spPr>
        <p:txBody>
          <a:bodyPr wrap="square" lIns="0" tIns="0" rIns="0" bIns="0" rtlCol="0" anchor="t"/>
          <a:lstStyle/>
          <a:p>
            <a:pPr indent="0" marL="0">
              <a:buNone/>
            </a:pPr>
            <a:r>
              <a:rPr lang="en-US" sz="1100" b="1" dirty="0">
                <a:solidFill>
                  <a:srgbClr val="0D1117"/>
                </a:solidFill>
                <a:latin typeface="Calibri" pitchFamily="34" charset="0"/>
                <a:ea typeface="Calibri" pitchFamily="34" charset="-122"/>
                <a:cs typeface="Calibri" pitchFamily="34" charset="-120"/>
              </a:rPr>
              <a:t>Entity resolution</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Fellegi, I. P. &amp; Sunter, A. B. (1969). A theory for record linkage. JASA 64(328). · Christen, P. (2012). Data Matching. Springer.</a:t>
            </a:r>
            <a:endParaRPr lang="en-US" sz="1100" dirty="0"/>
          </a:p>
        </p:txBody>
      </p:sp>
      <p:sp>
        <p:nvSpPr>
          <p:cNvPr id="16" name="Shape 14"/>
          <p:cNvSpPr/>
          <p:nvPr/>
        </p:nvSpPr>
        <p:spPr>
          <a:xfrm>
            <a:off x="640080" y="4023360"/>
            <a:ext cx="310896" cy="310896"/>
          </a:xfrm>
          <a:prstGeom prst="ellipse">
            <a:avLst/>
          </a:prstGeom>
          <a:solidFill>
            <a:srgbClr val="1F6FEB"/>
          </a:solidFill>
          <a:ln w="12700">
            <a:solidFill>
              <a:srgbClr val="1F6FEB"/>
            </a:solidFill>
            <a:prstDash val="solid"/>
          </a:ln>
        </p:spPr>
      </p:sp>
      <p:sp>
        <p:nvSpPr>
          <p:cNvPr id="17" name="Text 15"/>
          <p:cNvSpPr txBox="1"/>
          <p:nvPr/>
        </p:nvSpPr>
        <p:spPr>
          <a:xfrm>
            <a:off x="640080" y="4023360"/>
            <a:ext cx="310896"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Emoji" pitchFamily="34" charset="0"/>
                <a:ea typeface="Segoe UI Emoji" pitchFamily="34" charset="-122"/>
                <a:cs typeface="Segoe UI Emoji" pitchFamily="34" charset="-120"/>
              </a:rPr>
              <a:t>4</a:t>
            </a:r>
            <a:endParaRPr lang="en-US" sz="1000" dirty="0"/>
          </a:p>
        </p:txBody>
      </p:sp>
      <p:sp>
        <p:nvSpPr>
          <p:cNvPr id="18" name="Text 16"/>
          <p:cNvSpPr txBox="1"/>
          <p:nvPr/>
        </p:nvSpPr>
        <p:spPr>
          <a:xfrm>
            <a:off x="1097280" y="3995928"/>
            <a:ext cx="6035040" cy="731520"/>
          </a:xfrm>
          <a:prstGeom prst="rect">
            <a:avLst/>
          </a:prstGeom>
          <a:noFill/>
          <a:ln/>
        </p:spPr>
        <p:txBody>
          <a:bodyPr wrap="square" lIns="0" tIns="0" rIns="0" bIns="0" rtlCol="0" anchor="t"/>
          <a:lstStyle/>
          <a:p>
            <a:pPr indent="0" marL="0">
              <a:buNone/>
            </a:pPr>
            <a:r>
              <a:rPr lang="en-US" sz="1100" b="1" dirty="0">
                <a:solidFill>
                  <a:srgbClr val="0D1117"/>
                </a:solidFill>
                <a:latin typeface="Calibri" pitchFamily="34" charset="0"/>
                <a:ea typeface="Calibri" pitchFamily="34" charset="-122"/>
                <a:cs typeface="Calibri" pitchFamily="34" charset="-120"/>
              </a:rPr>
              <a:t>Robust anomaly detection</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Leys, C. et al. (2013). Detecting outliers: use absolute deviation around the median. J. Exp. Soc. Psych. 49(4).</a:t>
            </a:r>
            <a:endParaRPr lang="en-US" sz="1100" dirty="0"/>
          </a:p>
        </p:txBody>
      </p:sp>
      <p:sp>
        <p:nvSpPr>
          <p:cNvPr id="19" name="Shape 17"/>
          <p:cNvSpPr/>
          <p:nvPr/>
        </p:nvSpPr>
        <p:spPr>
          <a:xfrm>
            <a:off x="640080" y="4791456"/>
            <a:ext cx="310896" cy="310896"/>
          </a:xfrm>
          <a:prstGeom prst="ellipse">
            <a:avLst/>
          </a:prstGeom>
          <a:solidFill>
            <a:srgbClr val="1F6FEB"/>
          </a:solidFill>
          <a:ln w="12700">
            <a:solidFill>
              <a:srgbClr val="1F6FEB"/>
            </a:solidFill>
            <a:prstDash val="solid"/>
          </a:ln>
        </p:spPr>
      </p:sp>
      <p:sp>
        <p:nvSpPr>
          <p:cNvPr id="20" name="Text 18"/>
          <p:cNvSpPr txBox="1"/>
          <p:nvPr/>
        </p:nvSpPr>
        <p:spPr>
          <a:xfrm>
            <a:off x="640080" y="4791456"/>
            <a:ext cx="310896"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Emoji" pitchFamily="34" charset="0"/>
                <a:ea typeface="Segoe UI Emoji" pitchFamily="34" charset="-122"/>
                <a:cs typeface="Segoe UI Emoji" pitchFamily="34" charset="-120"/>
              </a:rPr>
              <a:t>5</a:t>
            </a:r>
            <a:endParaRPr lang="en-US" sz="1000" dirty="0"/>
          </a:p>
        </p:txBody>
      </p:sp>
      <p:sp>
        <p:nvSpPr>
          <p:cNvPr id="21" name="Text 19"/>
          <p:cNvSpPr txBox="1"/>
          <p:nvPr/>
        </p:nvSpPr>
        <p:spPr>
          <a:xfrm>
            <a:off x="1097280" y="4764024"/>
            <a:ext cx="6035040" cy="731520"/>
          </a:xfrm>
          <a:prstGeom prst="rect">
            <a:avLst/>
          </a:prstGeom>
          <a:noFill/>
          <a:ln/>
        </p:spPr>
        <p:txBody>
          <a:bodyPr wrap="square" lIns="0" tIns="0" rIns="0" bIns="0" rtlCol="0" anchor="t"/>
          <a:lstStyle/>
          <a:p>
            <a:pPr indent="0" marL="0">
              <a:buNone/>
            </a:pPr>
            <a:r>
              <a:rPr lang="en-US" sz="1100" b="1" dirty="0">
                <a:solidFill>
                  <a:srgbClr val="0D1117"/>
                </a:solidFill>
                <a:latin typeface="Calibri" pitchFamily="34" charset="0"/>
                <a:ea typeface="Calibri" pitchFamily="34" charset="-122"/>
                <a:cs typeface="Calibri" pitchFamily="34" charset="-120"/>
              </a:rPr>
              <a:t>Tamper-evident logs</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Haber, S. &amp; Stornetta, W. S. (1991). How to time-stamp a digital document. J. Cryptology 3. · Hyperledger Fabric documentation.</a:t>
            </a:r>
            <a:endParaRPr lang="en-US" sz="1100" dirty="0"/>
          </a:p>
        </p:txBody>
      </p:sp>
      <p:sp>
        <p:nvSpPr>
          <p:cNvPr id="22" name="Shape 20"/>
          <p:cNvSpPr/>
          <p:nvPr/>
        </p:nvSpPr>
        <p:spPr>
          <a:xfrm>
            <a:off x="640080" y="5559552"/>
            <a:ext cx="310896" cy="310896"/>
          </a:xfrm>
          <a:prstGeom prst="ellipse">
            <a:avLst/>
          </a:prstGeom>
          <a:solidFill>
            <a:srgbClr val="1F6FEB"/>
          </a:solidFill>
          <a:ln w="12700">
            <a:solidFill>
              <a:srgbClr val="1F6FEB"/>
            </a:solidFill>
            <a:prstDash val="solid"/>
          </a:ln>
        </p:spPr>
      </p:sp>
      <p:sp>
        <p:nvSpPr>
          <p:cNvPr id="23" name="Text 21"/>
          <p:cNvSpPr txBox="1"/>
          <p:nvPr/>
        </p:nvSpPr>
        <p:spPr>
          <a:xfrm>
            <a:off x="640080" y="5559552"/>
            <a:ext cx="310896" cy="310896"/>
          </a:xfrm>
          <a:prstGeom prst="rect">
            <a:avLst/>
          </a:prstGeom>
          <a:noFill/>
          <a:ln/>
        </p:spPr>
        <p:txBody>
          <a:bodyPr wrap="square" lIns="0" tIns="0" rIns="0" bIns="0" rtlCol="0" anchor="ctr"/>
          <a:lstStyle/>
          <a:p>
            <a:pPr algn="ctr" indent="0" marL="0">
              <a:buNone/>
            </a:pPr>
            <a:r>
              <a:rPr lang="en-US" sz="1000" dirty="0">
                <a:solidFill>
                  <a:srgbClr val="FFFFFF"/>
                </a:solidFill>
                <a:latin typeface="Segoe UI Emoji" pitchFamily="34" charset="0"/>
                <a:ea typeface="Segoe UI Emoji" pitchFamily="34" charset="-122"/>
                <a:cs typeface="Segoe UI Emoji" pitchFamily="34" charset="-120"/>
              </a:rPr>
              <a:t>6</a:t>
            </a:r>
            <a:endParaRPr lang="en-US" sz="1000" dirty="0"/>
          </a:p>
        </p:txBody>
      </p:sp>
      <p:sp>
        <p:nvSpPr>
          <p:cNvPr id="24" name="Text 22"/>
          <p:cNvSpPr txBox="1"/>
          <p:nvPr/>
        </p:nvSpPr>
        <p:spPr>
          <a:xfrm>
            <a:off x="1097280" y="5532120"/>
            <a:ext cx="6035040" cy="731520"/>
          </a:xfrm>
          <a:prstGeom prst="rect">
            <a:avLst/>
          </a:prstGeom>
          <a:noFill/>
          <a:ln/>
        </p:spPr>
        <p:txBody>
          <a:bodyPr wrap="square" lIns="0" tIns="0" rIns="0" bIns="0" rtlCol="0" anchor="t"/>
          <a:lstStyle/>
          <a:p>
            <a:pPr indent="0" marL="0">
              <a:buNone/>
            </a:pPr>
            <a:r>
              <a:rPr lang="en-US" sz="1100" b="1" dirty="0">
                <a:solidFill>
                  <a:srgbClr val="0D1117"/>
                </a:solidFill>
                <a:latin typeface="Calibri" pitchFamily="34" charset="0"/>
                <a:ea typeface="Calibri" pitchFamily="34" charset="-122"/>
                <a:cs typeface="Calibri" pitchFamily="34" charset="-120"/>
              </a:rPr>
              <a:t>Law and data shapes</a:t>
            </a:r>
            <a:endParaRPr lang="en-US" sz="1100" dirty="0"/>
          </a:p>
          <a:p>
            <a:pPr indent="0" marL="0">
              <a:buNone/>
            </a:pPr>
            <a:r>
              <a:rPr lang="en-US" sz="950" dirty="0">
                <a:solidFill>
                  <a:srgbClr val="1B2430"/>
                </a:solidFill>
                <a:latin typeface="Calibri" pitchFamily="34" charset="0"/>
                <a:ea typeface="Calibri" pitchFamily="34" charset="-122"/>
                <a:cs typeface="Calibri" pitchFamily="34" charset="-120"/>
              </a:rPr>
              <a:t>Digital Personal Data Protection Act, 2023 · CCTNS (NCRB) FIR/charge-sheet schema · FIU-IND suspicious-transaction reporting · e-Prisons · VAHAN.</a:t>
            </a:r>
            <a:endParaRPr lang="en-US" sz="1100" dirty="0"/>
          </a:p>
        </p:txBody>
      </p:sp>
      <p:sp>
        <p:nvSpPr>
          <p:cNvPr id="25" name="Shape 23"/>
          <p:cNvSpPr/>
          <p:nvPr/>
        </p:nvSpPr>
        <p:spPr>
          <a:xfrm>
            <a:off x="7543800" y="1188720"/>
            <a:ext cx="4251960" cy="2514600"/>
          </a:xfrm>
          <a:prstGeom prst="roundRect">
            <a:avLst>
              <a:gd name="adj" fmla="val 2909"/>
            </a:avLst>
          </a:prstGeom>
          <a:solidFill>
            <a:srgbClr val="E8F0FE"/>
          </a:solidFill>
          <a:ln w="12700">
            <a:solidFill>
              <a:srgbClr val="E8F0FE"/>
            </a:solidFill>
            <a:prstDash val="solid"/>
          </a:ln>
          <a:effectLst>
            <a:outerShdw sx="100000" sy="100000" kx="0" ky="0" algn="bl" rotWithShape="0" blurRad="50800" dist="12700" dir="5400000">
              <a:srgbClr val="000000">
                <a:alpha val="12000"/>
              </a:srgbClr>
            </a:outerShdw>
          </a:effectLst>
        </p:spPr>
      </p:sp>
      <p:sp>
        <p:nvSpPr>
          <p:cNvPr id="26" name="Shape 24"/>
          <p:cNvSpPr/>
          <p:nvPr/>
        </p:nvSpPr>
        <p:spPr>
          <a:xfrm>
            <a:off x="7726680" y="1353312"/>
            <a:ext cx="420624" cy="420624"/>
          </a:xfrm>
          <a:prstGeom prst="ellipse">
            <a:avLst/>
          </a:prstGeom>
          <a:solidFill>
            <a:srgbClr val="1F6FEB"/>
          </a:solidFill>
          <a:ln w="12700">
            <a:solidFill>
              <a:srgbClr val="1F6FEB"/>
            </a:solidFill>
            <a:prstDash val="solid"/>
          </a:ln>
        </p:spPr>
      </p:sp>
      <p:sp>
        <p:nvSpPr>
          <p:cNvPr id="27" name="Text 25"/>
          <p:cNvSpPr txBox="1"/>
          <p:nvPr/>
        </p:nvSpPr>
        <p:spPr>
          <a:xfrm>
            <a:off x="7726680" y="1353312"/>
            <a:ext cx="420624"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28" name="Text 26"/>
          <p:cNvSpPr txBox="1"/>
          <p:nvPr/>
        </p:nvSpPr>
        <p:spPr>
          <a:xfrm>
            <a:off x="8275320" y="1353312"/>
            <a:ext cx="3291840" cy="420624"/>
          </a:xfrm>
          <a:prstGeom prst="rect">
            <a:avLst/>
          </a:prstGeom>
          <a:noFill/>
          <a:ln/>
        </p:spPr>
        <p:txBody>
          <a:bodyPr wrap="square" lIns="0" tIns="0" rIns="0" bIns="0" rtlCol="0" anchor="ctr"/>
          <a:lstStyle/>
          <a:p>
            <a:pPr indent="0" marL="0">
              <a:buNone/>
            </a:pPr>
            <a:r>
              <a:rPr lang="en-US" sz="1400" b="1" dirty="0">
                <a:solidFill>
                  <a:srgbClr val="0D1117"/>
                </a:solidFill>
                <a:latin typeface="Calibri" pitchFamily="34" charset="0"/>
                <a:ea typeface="Calibri" pitchFamily="34" charset="-122"/>
                <a:cs typeface="Calibri" pitchFamily="34" charset="-120"/>
              </a:rPr>
              <a:t>Economic impact</a:t>
            </a:r>
            <a:endParaRPr lang="en-US" sz="1400" dirty="0"/>
          </a:p>
        </p:txBody>
      </p:sp>
      <p:sp>
        <p:nvSpPr>
          <p:cNvPr id="29" name="Text 27"/>
          <p:cNvSpPr txBox="1"/>
          <p:nvPr/>
        </p:nvSpPr>
        <p:spPr>
          <a:xfrm>
            <a:off x="7726680" y="1874520"/>
            <a:ext cx="3886200" cy="17373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B2430"/>
                </a:solidFill>
                <a:latin typeface="Calibri" pitchFamily="34" charset="0"/>
                <a:ea typeface="Calibri" pitchFamily="34" charset="-122"/>
                <a:cs typeface="Calibri" pitchFamily="34" charset="-120"/>
              </a:rPr>
              <a:t>Zero licence cost: fully open-source stack against per-seat foreign tools (i2 Analyst's Notebook, Palantir).</a:t>
            </a:r>
            <a:endParaRPr lang="en-US" sz="1000" dirty="0"/>
          </a:p>
          <a:p>
            <a:pPr marL="342900" indent="-342900">
              <a:spcAft>
                <a:spcPts val="400"/>
              </a:spcAft>
              <a:buSzPct val="100000"/>
              <a:buChar char="•"/>
            </a:pPr>
            <a:r>
              <a:rPr lang="en-US" sz="1000" dirty="0">
                <a:solidFill>
                  <a:srgbClr val="1B2430"/>
                </a:solidFill>
                <a:latin typeface="Calibri" pitchFamily="34" charset="0"/>
                <a:ea typeface="Calibri" pitchFamily="34" charset="-122"/>
                <a:cs typeface="Calibri" pitchFamily="34" charset="-120"/>
              </a:rPr>
              <a:t>Weeks of cross-state file correspondence become one query with the reasoning attached.</a:t>
            </a:r>
            <a:endParaRPr lang="en-US" sz="1000" dirty="0"/>
          </a:p>
          <a:p>
            <a:pPr marL="342900" indent="-342900">
              <a:spcAft>
                <a:spcPts val="400"/>
              </a:spcAft>
              <a:buSzPct val="100000"/>
              <a:buChar char="•"/>
            </a:pPr>
            <a:r>
              <a:rPr lang="en-US" sz="1000" dirty="0">
                <a:solidFill>
                  <a:srgbClr val="1B2430"/>
                </a:solidFill>
                <a:latin typeface="Calibri" pitchFamily="34" charset="0"/>
                <a:ea typeface="Calibri" pitchFamily="34" charset="-122"/>
                <a:cs typeface="Calibri" pitchFamily="34" charset="-120"/>
              </a:rPr>
              <a:t>Runs on a laptop today; the same schema scales on NIC MeghRaj with Neo4j. Pilot metric: time-to-lead versus manual work.</a:t>
            </a:r>
            <a:endParaRPr lang="en-US" sz="1000" dirty="0"/>
          </a:p>
        </p:txBody>
      </p:sp>
      <p:sp>
        <p:nvSpPr>
          <p:cNvPr id="30" name="Shape 28"/>
          <p:cNvSpPr/>
          <p:nvPr/>
        </p:nvSpPr>
        <p:spPr>
          <a:xfrm>
            <a:off x="7543800" y="3886200"/>
            <a:ext cx="4251960" cy="2514600"/>
          </a:xfrm>
          <a:prstGeom prst="roundRect">
            <a:avLst>
              <a:gd name="adj" fmla="val 2909"/>
            </a:avLst>
          </a:prstGeom>
          <a:solidFill>
            <a:srgbClr val="E6F4EA"/>
          </a:solidFill>
          <a:ln w="12700">
            <a:solidFill>
              <a:srgbClr val="E6F4EA"/>
            </a:solidFill>
            <a:prstDash val="solid"/>
          </a:ln>
          <a:effectLst>
            <a:outerShdw sx="100000" sy="100000" kx="0" ky="0" algn="bl" rotWithShape="0" blurRad="50800" dist="12700" dir="5400000">
              <a:srgbClr val="000000">
                <a:alpha val="12000"/>
              </a:srgbClr>
            </a:outerShdw>
          </a:effectLst>
        </p:spPr>
      </p:sp>
      <p:sp>
        <p:nvSpPr>
          <p:cNvPr id="31" name="Shape 29"/>
          <p:cNvSpPr/>
          <p:nvPr/>
        </p:nvSpPr>
        <p:spPr>
          <a:xfrm>
            <a:off x="7726680" y="4050792"/>
            <a:ext cx="420624" cy="420624"/>
          </a:xfrm>
          <a:prstGeom prst="ellipse">
            <a:avLst/>
          </a:prstGeom>
          <a:solidFill>
            <a:srgbClr val="1F8A4C"/>
          </a:solidFill>
          <a:ln w="12700">
            <a:solidFill>
              <a:srgbClr val="1F8A4C"/>
            </a:solidFill>
            <a:prstDash val="solid"/>
          </a:ln>
        </p:spPr>
      </p:sp>
      <p:sp>
        <p:nvSpPr>
          <p:cNvPr id="32" name="Text 30"/>
          <p:cNvSpPr txBox="1"/>
          <p:nvPr/>
        </p:nvSpPr>
        <p:spPr>
          <a:xfrm>
            <a:off x="7726680" y="4050792"/>
            <a:ext cx="420624" cy="420624"/>
          </a:xfrm>
          <a:prstGeom prst="rect">
            <a:avLst/>
          </a:prstGeom>
          <a:noFill/>
          <a:ln/>
        </p:spPr>
        <p:txBody>
          <a:bodyPr wrap="square" lIns="0" tIns="0" rIns="0" bIns="0" rtlCol="0" anchor="ctr"/>
          <a:lstStyle/>
          <a:p>
            <a:pPr algn="ctr" indent="0" marL="0">
              <a:buNone/>
            </a:pPr>
            <a:r>
              <a:rPr lang="en-US" sz="1300" dirty="0">
                <a:solidFill>
                  <a:srgbClr val="FFFFFF"/>
                </a:solidFill>
                <a:latin typeface="Segoe UI Emoji" pitchFamily="34" charset="0"/>
                <a:ea typeface="Segoe UI Emoji" pitchFamily="34" charset="-122"/>
                <a:cs typeface="Segoe UI Emoji" pitchFamily="34" charset="-120"/>
              </a:rPr>
              <a:t>🤝</a:t>
            </a:r>
            <a:endParaRPr lang="en-US" sz="1300" dirty="0"/>
          </a:p>
        </p:txBody>
      </p:sp>
      <p:sp>
        <p:nvSpPr>
          <p:cNvPr id="33" name="Text 31"/>
          <p:cNvSpPr txBox="1"/>
          <p:nvPr/>
        </p:nvSpPr>
        <p:spPr>
          <a:xfrm>
            <a:off x="8275320" y="4050792"/>
            <a:ext cx="3291840" cy="420624"/>
          </a:xfrm>
          <a:prstGeom prst="rect">
            <a:avLst/>
          </a:prstGeom>
          <a:noFill/>
          <a:ln/>
        </p:spPr>
        <p:txBody>
          <a:bodyPr wrap="square" lIns="0" tIns="0" rIns="0" bIns="0" rtlCol="0" anchor="ctr"/>
          <a:lstStyle/>
          <a:p>
            <a:pPr indent="0" marL="0">
              <a:buNone/>
            </a:pPr>
            <a:r>
              <a:rPr lang="en-US" sz="1400" b="1" dirty="0">
                <a:solidFill>
                  <a:srgbClr val="0D1117"/>
                </a:solidFill>
                <a:latin typeface="Calibri" pitchFamily="34" charset="0"/>
                <a:ea typeface="Calibri" pitchFamily="34" charset="-122"/>
                <a:cs typeface="Calibri" pitchFamily="34" charset="-120"/>
              </a:rPr>
              <a:t>Social benefits</a:t>
            </a:r>
            <a:endParaRPr lang="en-US" sz="1400" dirty="0"/>
          </a:p>
        </p:txBody>
      </p:sp>
      <p:sp>
        <p:nvSpPr>
          <p:cNvPr id="34" name="Text 32"/>
          <p:cNvSpPr txBox="1"/>
          <p:nvPr/>
        </p:nvSpPr>
        <p:spPr>
          <a:xfrm>
            <a:off x="7726680" y="4572000"/>
            <a:ext cx="3886200" cy="17373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B2430"/>
                </a:solidFill>
                <a:latin typeface="Calibri" pitchFamily="34" charset="0"/>
                <a:ea typeface="Calibri" pitchFamily="34" charset="-122"/>
                <a:cs typeface="Calibri" pitchFamily="34" charset="-120"/>
              </a:rPr>
              <a:t>Investigation reaches the financiers and brokers above street level, not only the foot soldiers.</a:t>
            </a:r>
            <a:endParaRPr lang="en-US" sz="1000" dirty="0"/>
          </a:p>
          <a:p>
            <a:pPr marL="342900" indent="-342900">
              <a:spcAft>
                <a:spcPts val="400"/>
              </a:spcAft>
              <a:buSzPct val="100000"/>
              <a:buChar char="•"/>
            </a:pPr>
            <a:r>
              <a:rPr lang="en-US" sz="1000" dirty="0">
                <a:solidFill>
                  <a:srgbClr val="1B2430"/>
                </a:solidFill>
                <a:latin typeface="Calibri" pitchFamily="34" charset="0"/>
                <a:ea typeface="Calibri" pitchFamily="34" charset="-122"/>
                <a:cs typeface="Calibri" pitchFamily="34" charset="-120"/>
              </a:rPr>
              <a:t>Citizens are protected by design: no guilt scores, no automatic identity merges, human verdicts, an audit chain no administrator can rewrite.</a:t>
            </a:r>
            <a:endParaRPr lang="en-US" sz="1000" dirty="0"/>
          </a:p>
          <a:p>
            <a:pPr marL="342900" indent="-342900">
              <a:spcAft>
                <a:spcPts val="400"/>
              </a:spcAft>
              <a:buSzPct val="100000"/>
              <a:buChar char="•"/>
            </a:pPr>
            <a:r>
              <a:rPr lang="en-US" sz="1000" dirty="0">
                <a:solidFill>
                  <a:srgbClr val="1B2430"/>
                </a:solidFill>
                <a:latin typeface="Calibri" pitchFamily="34" charset="0"/>
                <a:ea typeface="Calibri" pitchFamily="34" charset="-122"/>
                <a:cs typeface="Calibri" pitchFamily="34" charset="-120"/>
              </a:rPr>
              <a:t>For NCRB's Women Safety Division the same engine maps trafficking networks, where speed of connection-finding protects victims.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PRAHARI — SIH 2026 · PS 26189</dc:title>
  <dc:subject>PptxGenJS Presentation</dc:subject>
  <dc:creator>Team PRAHARI</dc:creator>
  <cp:lastModifiedBy>Team PRAHARI</cp:lastModifiedBy>
  <cp:revision>1</cp:revision>
  <dcterms:created xsi:type="dcterms:W3CDTF">2026-09-07T13:32:03Z</dcterms:created>
  <dcterms:modified xsi:type="dcterms:W3CDTF">2026-09-07T13:32:03Z</dcterms:modified>
</cp:coreProperties>
</file>